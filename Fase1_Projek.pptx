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58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Steam Game Reviews &amp;</a:t>
            </a:r>
            <a:br/>
            <a:r>
              <a:t>Popularity Analysis</a:t>
            </a:r>
          </a:p>
          <a:p>
            <a:pPr>
              <a:spcBef>
                <a:spcPts val="1600"/>
              </a:spcBef>
              <a:defRPr sz="2000">
                <a:solidFill>
                  <a:srgbClr val="42A5F5"/>
                </a:solidFill>
              </a:defRPr>
            </a:pPr>
            <a:r>
              <a:t>Fase 1 — Projekbeplanning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27432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Navorsingsvraag &amp; Hipotese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Navorsingsvraag</a:t>
            </a:r>
            <a:r>
              <a:rPr dirty="0"/>
              <a:t>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Hoe </a:t>
            </a:r>
            <a:r>
              <a:rPr dirty="0" err="1"/>
              <a:t>kan</a:t>
            </a:r>
            <a:r>
              <a:rPr dirty="0"/>
              <a:t> 'n </a:t>
            </a:r>
            <a:r>
              <a:rPr dirty="0" err="1"/>
              <a:t>speletjie-ontwikkelaar</a:t>
            </a:r>
            <a:r>
              <a:rPr dirty="0"/>
              <a:t> </a:t>
            </a:r>
            <a:r>
              <a:rPr dirty="0" err="1"/>
              <a:t>hul</a:t>
            </a:r>
            <a:r>
              <a:rPr dirty="0"/>
              <a:t> </a:t>
            </a:r>
            <a:r>
              <a:rPr dirty="0" err="1"/>
              <a:t>speletjie</a:t>
            </a:r>
            <a:r>
              <a:rPr dirty="0"/>
              <a:t> in 'n </a:t>
            </a:r>
            <a:r>
              <a:rPr dirty="0" err="1"/>
              <a:t>spesifieke</a:t>
            </a:r>
            <a:r>
              <a:rPr dirty="0"/>
              <a:t> genre </a:t>
            </a:r>
            <a:r>
              <a:rPr dirty="0" err="1"/>
              <a:t>suksesvol</a:t>
            </a:r>
            <a:r>
              <a:rPr dirty="0"/>
              <a:t> </a:t>
            </a:r>
            <a:r>
              <a:rPr dirty="0" err="1"/>
              <a:t>maak</a:t>
            </a:r>
            <a:r>
              <a:rPr dirty="0"/>
              <a:t> op Steam?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Hipotese</a:t>
            </a:r>
            <a:r>
              <a:rPr dirty="0"/>
              <a:t>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Genre </a:t>
            </a:r>
            <a:r>
              <a:rPr dirty="0" err="1"/>
              <a:t>bepaal</a:t>
            </a:r>
            <a:r>
              <a:rPr dirty="0"/>
              <a:t> die </a:t>
            </a:r>
            <a:r>
              <a:rPr dirty="0" err="1"/>
              <a:t>basislyn-verwagtinge</a:t>
            </a:r>
            <a:r>
              <a:rPr dirty="0"/>
              <a:t> van </a:t>
            </a:r>
            <a:r>
              <a:rPr dirty="0" err="1"/>
              <a:t>spelers</a:t>
            </a:r>
            <a:r>
              <a:rPr dirty="0"/>
              <a:t>.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Suksesfaktore</a:t>
            </a:r>
            <a:r>
              <a:rPr dirty="0"/>
              <a:t> (</a:t>
            </a:r>
            <a:r>
              <a:rPr dirty="0" err="1"/>
              <a:t>speeltyd</a:t>
            </a:r>
            <a:r>
              <a:rPr dirty="0"/>
              <a:t>, </a:t>
            </a:r>
            <a:r>
              <a:rPr dirty="0" err="1"/>
              <a:t>resensielengte</a:t>
            </a:r>
            <a:r>
              <a:rPr dirty="0"/>
              <a:t>, </a:t>
            </a:r>
            <a:r>
              <a:rPr dirty="0" err="1"/>
              <a:t>prys</a:t>
            </a:r>
            <a:r>
              <a:rPr dirty="0"/>
              <a:t>, </a:t>
            </a:r>
            <a:r>
              <a:rPr dirty="0" err="1"/>
              <a:t>opdateringsfrekwensie</a:t>
            </a:r>
            <a:r>
              <a:rPr dirty="0"/>
              <a:t>) </a:t>
            </a:r>
            <a:r>
              <a:rPr dirty="0" err="1"/>
              <a:t>verskil</a:t>
            </a:r>
            <a:endParaRPr dirty="0"/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beduidend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genres.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'n 70% </a:t>
            </a:r>
            <a:r>
              <a:rPr dirty="0" err="1"/>
              <a:t>positiewe</a:t>
            </a:r>
            <a:r>
              <a:rPr dirty="0"/>
              <a:t> score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uitstekend</a:t>
            </a:r>
            <a:r>
              <a:rPr dirty="0"/>
              <a:t> wees vir Free-to-Play,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maar </a:t>
            </a:r>
            <a:r>
              <a:rPr dirty="0" err="1"/>
              <a:t>teleurstellend</a:t>
            </a:r>
            <a:r>
              <a:rPr dirty="0"/>
              <a:t> vir 'n Action-RPG.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Omvang</a:t>
            </a:r>
            <a:r>
              <a:rPr dirty="0"/>
              <a:t>: </a:t>
            </a:r>
            <a:r>
              <a:rPr dirty="0" err="1"/>
              <a:t>speletjies</a:t>
            </a:r>
            <a:r>
              <a:rPr dirty="0"/>
              <a:t> </a:t>
            </a:r>
            <a:r>
              <a:rPr dirty="0" err="1"/>
              <a:t>oor</a:t>
            </a:r>
            <a:r>
              <a:rPr dirty="0"/>
              <a:t> 9 genres </a:t>
            </a:r>
            <a:r>
              <a:rPr lang="en-US" dirty="0"/>
              <a:t>: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RPG, Shooter, Action, Strategy, Adventure, Survival, Battle Royale, Free-to-Play, Hero Shooter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Sub-Navorsingsvrae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1. Watter kenmerke voorspel 'n positiewe resensie?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 Speeltyd, resensielengte, stemme, aankoop-type?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2. Verskil suksesfaktore per genre?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 Is speeltyd belangriker vir RPG's as vir Shooters?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3. Hoe ontwikkel spelertevredenheid oor tyd?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 Kan 'n 'verlossingsboog' (soos Cyberpunk 2077) voorspel word?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4. Watter rol speel inhoudopdaterings?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 Het speletjies wat gereeld opdateer 'n hoër resensiescore?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5. Wat is die tipiese seisoenspatrone?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 Is daar beter/seisoene vir speletjie-bekendstellings?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Relevansie vir Belanghebbendes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Steam: 132 miljoen maandelikse aktiewe gebruikers, 50 000+ speletjies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Speletjie-ontwikkelaars (veral indie):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Verstaan watter faktore positiewe resensies in hul teikengenre aandryf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Uitgewers: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Neem ingeligte besluite oor watter genre om in te belê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Beleggers: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Evalueer potensiële sukses gebaseer op genre-spesifieke maatstawwe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Navorsers: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Verstaan verband tussen speletjiekenmerke, spelertevredenheid en langtermynsukses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Monetiseringspotensiaal &amp; Impak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Monetiseringspotensiaal: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Genre-keuse beïnvloed spelersbehoud, speeltyd, resensiescore en sigbaarheid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Kwantifisering van suksesfaktore verbeter kanse op positiewe ontvangs en verkope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Potensiële Impak: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Data-gedrewe besluite oor genre-keuse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Prioritiseer die regte kenmerke tydens ontwikkeling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Realistiese verwagtinge vir resensiescore per genre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Optimaliseer tydsberekening van bekendstellings en opdaterings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Databronne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Steam API — </a:t>
            </a:r>
            <a:r>
              <a:rPr dirty="0" err="1"/>
              <a:t>resensies</a:t>
            </a:r>
            <a:r>
              <a:rPr dirty="0"/>
              <a:t>, </a:t>
            </a:r>
            <a:r>
              <a:rPr dirty="0" err="1"/>
              <a:t>speletjiebesonderhede</a:t>
            </a:r>
            <a:r>
              <a:rPr dirty="0"/>
              <a:t>, </a:t>
            </a:r>
            <a:r>
              <a:rPr dirty="0" err="1"/>
              <a:t>huidige</a:t>
            </a:r>
            <a:r>
              <a:rPr dirty="0"/>
              <a:t> </a:t>
            </a:r>
            <a:r>
              <a:rPr dirty="0" err="1"/>
              <a:t>spelers</a:t>
            </a:r>
            <a:r>
              <a:rPr dirty="0"/>
              <a:t>, </a:t>
            </a:r>
            <a:r>
              <a:rPr dirty="0" err="1"/>
              <a:t>nuus</a:t>
            </a:r>
            <a:r>
              <a:rPr dirty="0"/>
              <a:t>/</a:t>
            </a:r>
            <a:r>
              <a:rPr dirty="0" err="1"/>
              <a:t>opdaterings</a:t>
            </a: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SteamCharts</a:t>
            </a:r>
            <a:r>
              <a:rPr dirty="0"/>
              <a:t> — </a:t>
            </a:r>
            <a:r>
              <a:rPr dirty="0" err="1"/>
              <a:t>historiese</a:t>
            </a:r>
            <a:r>
              <a:rPr dirty="0"/>
              <a:t> </a:t>
            </a:r>
            <a:r>
              <a:rPr dirty="0" err="1"/>
              <a:t>maandelikse</a:t>
            </a:r>
            <a:r>
              <a:rPr dirty="0"/>
              <a:t> </a:t>
            </a:r>
            <a:r>
              <a:rPr dirty="0" err="1"/>
              <a:t>spelerdata</a:t>
            </a:r>
            <a:r>
              <a:rPr dirty="0"/>
              <a:t> </a:t>
            </a:r>
            <a:endParaRPr lang="en-US"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SteamDB</a:t>
            </a:r>
            <a:r>
              <a:rPr dirty="0"/>
              <a:t> — </a:t>
            </a:r>
            <a:r>
              <a:rPr dirty="0" err="1"/>
              <a:t>daaglikse</a:t>
            </a:r>
            <a:r>
              <a:rPr dirty="0"/>
              <a:t> </a:t>
            </a:r>
            <a:r>
              <a:rPr dirty="0" err="1"/>
              <a:t>positiewe</a:t>
            </a:r>
            <a:r>
              <a:rPr dirty="0"/>
              <a:t>/</a:t>
            </a:r>
            <a:r>
              <a:rPr dirty="0" err="1"/>
              <a:t>negatiewe</a:t>
            </a:r>
            <a:r>
              <a:rPr dirty="0"/>
              <a:t> </a:t>
            </a:r>
            <a:r>
              <a:rPr dirty="0" err="1"/>
              <a:t>resensietellings</a:t>
            </a:r>
            <a:endParaRPr lang="en-US"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ISteamNews</a:t>
            </a:r>
            <a:r>
              <a:rPr dirty="0"/>
              <a:t> API —</a:t>
            </a:r>
            <a:r>
              <a:rPr dirty="0" err="1"/>
              <a:t>inhoudgebeure</a:t>
            </a:r>
            <a:r>
              <a:rPr dirty="0"/>
              <a:t> (patches, updates, DLC, expansions)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Tydperk</a:t>
            </a:r>
            <a:r>
              <a:rPr dirty="0"/>
              <a:t>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Resensies</a:t>
            </a:r>
            <a:r>
              <a:rPr dirty="0"/>
              <a:t>: Julie 2025 – Julie 2026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SteamDB</a:t>
            </a:r>
            <a:r>
              <a:rPr dirty="0"/>
              <a:t>: 2012–2026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SteamCharts</a:t>
            </a:r>
            <a:r>
              <a:rPr dirty="0"/>
              <a:t>: 2015–2026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Metodologie — Oorsig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Data-</a:t>
            </a:r>
            <a:r>
              <a:rPr dirty="0" err="1"/>
              <a:t>insameling</a:t>
            </a:r>
            <a:r>
              <a:rPr dirty="0"/>
              <a:t>: Web scraping via Steam API, </a:t>
            </a:r>
            <a:r>
              <a:rPr dirty="0" err="1"/>
              <a:t>SteamCharts</a:t>
            </a:r>
            <a:r>
              <a:rPr dirty="0"/>
              <a:t>, </a:t>
            </a:r>
            <a:r>
              <a:rPr dirty="0" err="1"/>
              <a:t>SteamDB</a:t>
            </a: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Data-</a:t>
            </a:r>
            <a:r>
              <a:rPr dirty="0" err="1"/>
              <a:t>verwerking</a:t>
            </a:r>
            <a:r>
              <a:rPr dirty="0"/>
              <a:t>: pandas (</a:t>
            </a:r>
            <a:r>
              <a:rPr dirty="0" err="1"/>
              <a:t>deduplikasie</a:t>
            </a:r>
            <a:r>
              <a:rPr dirty="0"/>
              <a:t>, </a:t>
            </a:r>
            <a:r>
              <a:rPr dirty="0" err="1"/>
              <a:t>teksskoonmaak</a:t>
            </a:r>
            <a:r>
              <a:rPr dirty="0"/>
              <a:t>, genre-one-hot, ~65k </a:t>
            </a:r>
            <a:r>
              <a:rPr dirty="0" err="1"/>
              <a:t>skoon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NLP: VADER-sentiment, TF-IDF, </a:t>
            </a:r>
            <a:r>
              <a:rPr dirty="0" err="1"/>
              <a:t>woordwolke</a:t>
            </a: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Regressie</a:t>
            </a:r>
            <a:r>
              <a:rPr dirty="0"/>
              <a:t>: </a:t>
            </a:r>
            <a:r>
              <a:rPr dirty="0" err="1"/>
              <a:t>Lineêr</a:t>
            </a:r>
            <a:r>
              <a:rPr dirty="0"/>
              <a:t> (</a:t>
            </a:r>
            <a:r>
              <a:rPr dirty="0" err="1"/>
              <a:t>voorspel</a:t>
            </a:r>
            <a:r>
              <a:rPr dirty="0"/>
              <a:t> VADER) &amp; </a:t>
            </a:r>
            <a:r>
              <a:rPr dirty="0" err="1"/>
              <a:t>Logisties</a:t>
            </a:r>
            <a:r>
              <a:rPr dirty="0"/>
              <a:t> (</a:t>
            </a:r>
            <a:r>
              <a:rPr dirty="0" err="1"/>
              <a:t>voorspel</a:t>
            </a:r>
            <a:r>
              <a:rPr dirty="0"/>
              <a:t> </a:t>
            </a:r>
            <a:r>
              <a:rPr dirty="0" err="1"/>
              <a:t>voted_up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Tydreeks</a:t>
            </a:r>
            <a:r>
              <a:rPr dirty="0"/>
              <a:t>: Volume, </a:t>
            </a:r>
            <a:r>
              <a:rPr dirty="0" err="1"/>
              <a:t>tendense</a:t>
            </a:r>
            <a:r>
              <a:rPr dirty="0"/>
              <a:t>, </a:t>
            </a:r>
            <a:r>
              <a:rPr dirty="0" err="1"/>
              <a:t>verlossingsboë</a:t>
            </a:r>
            <a:r>
              <a:rPr dirty="0"/>
              <a:t>, </a:t>
            </a:r>
            <a:r>
              <a:rPr dirty="0" err="1"/>
              <a:t>seisoenspatrone</a:t>
            </a:r>
            <a:r>
              <a:rPr dirty="0"/>
              <a:t>, genre-</a:t>
            </a:r>
            <a:r>
              <a:rPr dirty="0" err="1"/>
              <a:t>tendense</a:t>
            </a: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Dashboard: </a:t>
            </a:r>
            <a:r>
              <a:rPr dirty="0" err="1"/>
              <a:t>Interaktiewe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-dashboard met 5 tabs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Tegnologieë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pandas — Dataverwerking en -ontleding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numpy — Numeriese bewerkings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matplotlib — Visualisering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seaborn — Statistiese visualisering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scikit-learn — TF-IDF, regressie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scipy — Statistiese toetse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vaderSentiment — Sentimentanalise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wordcloud — Woordwolke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streamlit — Interaktiewe dashboard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requests — API-versoeke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Uitdagings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Steam API-</a:t>
            </a:r>
            <a:r>
              <a:rPr dirty="0" err="1"/>
              <a:t>perke</a:t>
            </a:r>
            <a:r>
              <a:rPr dirty="0"/>
              <a:t>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Slegs</a:t>
            </a:r>
            <a:r>
              <a:rPr dirty="0"/>
              <a:t> ~5 000 </a:t>
            </a:r>
            <a:r>
              <a:rPr dirty="0" err="1"/>
              <a:t>resensies</a:t>
            </a:r>
            <a:r>
              <a:rPr dirty="0"/>
              <a:t> per </a:t>
            </a:r>
            <a:r>
              <a:rPr dirty="0" err="1"/>
              <a:t>speletjie</a:t>
            </a:r>
            <a:r>
              <a:rPr dirty="0"/>
              <a:t> per </a:t>
            </a:r>
            <a:r>
              <a:rPr dirty="0" err="1"/>
              <a:t>sessie</a:t>
            </a: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Taalvariëteit</a:t>
            </a:r>
            <a:r>
              <a:rPr dirty="0"/>
              <a:t>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Resensies</a:t>
            </a:r>
            <a:r>
              <a:rPr dirty="0"/>
              <a:t> in 29+ tale</a:t>
            </a:r>
            <a:r>
              <a:rPr lang="en-US" dirty="0"/>
              <a:t>,</a:t>
            </a:r>
            <a:r>
              <a:rPr dirty="0"/>
              <a:t> VADER </a:t>
            </a:r>
            <a:r>
              <a:rPr dirty="0" err="1"/>
              <a:t>werk</a:t>
            </a:r>
            <a:r>
              <a:rPr dirty="0"/>
              <a:t> die </a:t>
            </a:r>
            <a:r>
              <a:rPr dirty="0" err="1"/>
              <a:t>beste</a:t>
            </a:r>
            <a:r>
              <a:rPr dirty="0"/>
              <a:t> met Engels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SteamDB-kumulatiewe</a:t>
            </a:r>
            <a:r>
              <a:rPr dirty="0"/>
              <a:t> data: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  <a:r>
              <a:rPr dirty="0" err="1"/>
              <a:t>Sommige</a:t>
            </a:r>
            <a:r>
              <a:rPr dirty="0"/>
              <a:t> </a:t>
            </a:r>
            <a:r>
              <a:rPr dirty="0" err="1"/>
              <a:t>speletjies</a:t>
            </a:r>
            <a:r>
              <a:rPr dirty="0"/>
              <a:t> (Overwatch 2) se </a:t>
            </a:r>
            <a:r>
              <a:rPr dirty="0" err="1"/>
              <a:t>eerste</a:t>
            </a:r>
            <a:r>
              <a:rPr dirty="0"/>
              <a:t> </a:t>
            </a:r>
            <a:r>
              <a:rPr dirty="0" err="1"/>
              <a:t>datapunt</a:t>
            </a:r>
            <a:r>
              <a:rPr dirty="0"/>
              <a:t> is 'n </a:t>
            </a:r>
            <a:r>
              <a:rPr dirty="0" err="1"/>
              <a:t>kumulatiewe</a:t>
            </a:r>
            <a:r>
              <a:rPr dirty="0"/>
              <a:t> </a:t>
            </a:r>
            <a:r>
              <a:rPr dirty="0" err="1"/>
              <a:t>totaal</a:t>
            </a:r>
            <a:endParaRPr dirty="0"/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rPr dirty="0" err="1"/>
              <a:t>Resensie-bomaanvalle</a:t>
            </a:r>
            <a:r>
              <a:rPr dirty="0"/>
              <a:t>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rPr dirty="0"/>
              <a:t>  Helldivers 2 PSN-</a:t>
            </a:r>
            <a:r>
              <a:rPr dirty="0" err="1"/>
              <a:t>koppeling</a:t>
            </a:r>
            <a:r>
              <a:rPr dirty="0"/>
              <a:t>-</a:t>
            </a:r>
            <a:r>
              <a:rPr dirty="0" err="1"/>
              <a:t>kontroversie</a:t>
            </a:r>
            <a:r>
              <a:rPr dirty="0"/>
              <a:t> het </a:t>
            </a:r>
            <a:r>
              <a:rPr dirty="0" err="1"/>
              <a:t>enorme</a:t>
            </a:r>
            <a:r>
              <a:rPr dirty="0"/>
              <a:t> </a:t>
            </a:r>
            <a:r>
              <a:rPr dirty="0" err="1"/>
              <a:t>daaglikse</a:t>
            </a:r>
            <a:r>
              <a:rPr dirty="0"/>
              <a:t> </a:t>
            </a:r>
            <a:r>
              <a:rPr dirty="0" err="1"/>
              <a:t>pieke</a:t>
            </a:r>
            <a:r>
              <a:rPr dirty="0"/>
              <a:t> </a:t>
            </a:r>
            <a:r>
              <a:rPr dirty="0" err="1"/>
              <a:t>veroorsaak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Etiese Oorwegings &amp; Haalbaarheid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Eties: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Slegs openbare data via Steam API, SteamCharts, SteamDB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Geen privaatgebruikersinligting gestoor nie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Resensie-data geanonimiseerd — slegs publieke metadata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Geen poging tot gebruikersmanipulasie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Haalbaarheid: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Data vrylik beskikbaar — geen API-beperkings op openbare data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Alle tegnieke binne kursusbestek</a:t>
            </a:r>
          </a:p>
          <a:p>
            <a:pPr lvl="1">
              <a:spcBef>
                <a:spcPts val="400"/>
              </a:spcBef>
              <a:defRPr sz="1800">
                <a:solidFill>
                  <a:srgbClr val="90A4AE"/>
                </a:solidFill>
              </a:defRPr>
            </a:pPr>
            <a:r>
              <a:t>  Haalbaar binne 'n semester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Bronnelys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Steam API Dokumentasie — https://steamcommunity.com/dev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SteamCharts — https://steamcharts.com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SteamDB — https://steamdb.info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VADER-Sentiment — Hutto &amp; Gilbert (2014), ICWSM-14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scikit-learn — Pedregosa et al. (2011), JMLR 12, 2825-2830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Streamlit — https://streamlit.io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WordCloud — https://github.com/amueller/word_cloud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pandas — McKinney (2010), Proc. 9th Python in Science Conf.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676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Mills</cp:lastModifiedBy>
  <cp:revision>3</cp:revision>
  <dcterms:created xsi:type="dcterms:W3CDTF">2013-01-27T09:14:16Z</dcterms:created>
  <dcterms:modified xsi:type="dcterms:W3CDTF">2026-07-23T15:46:22Z</dcterms:modified>
  <cp:category/>
</cp:coreProperties>
</file>