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14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94" d="100"/>
          <a:sy n="94" d="100"/>
        </p:scale>
        <p:origin x="586" y="73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tableStyles" Target="tableStyle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theme" Target="theme/theme1.xml"/><Relationship Id="rId2" Type="http://schemas.openxmlformats.org/officeDocument/2006/relationships/slide" Target="slides/slide1.xml"/><Relationship Id="rId16" Type="http://schemas.openxmlformats.org/officeDocument/2006/relationships/viewProps" Target="view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presProps" Target="presProps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notesMaster" Target="notesMasters/notesMaster1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298611989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Verwelkoming (Lid 1): 'Ons gaan vandag wys hoe ons ons Fase 2 data ingesamel en skoongemaak het vir ons Steam-genre-analise.'</a:t>
            </a:r>
          </a:p>
          <a:p>
            <a:r>
              <a:t>Oorsig van aanbieding in 1 sin: wat ons geskraap het, watter probleme ons gevind het, hoe ons dit skoongemaak het, en wat die finale datastel lyk.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Lid 1: 'Fase 2 fokus op twee dinge: hoe ons die data aktief ingesamel het, en hoe ons dit skoongemaak en voorberei het vir analise.'</a:t>
            </a:r>
          </a:p>
          <a:p>
            <a:r>
              <a:t>Lid 2: 'Ons sluit af met ons plan vir Fase 3 — die verkennende data-analise.'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Lid 1: 'Ons beplanning het by die navorsingsvraag begin — watter genre werk. Ons het 33 speletjies oor 9 genres gekies sodat elke genre genoeg volume het.'</a:t>
            </a:r>
          </a:p>
          <a:p>
            <a:r>
              <a:t>Lid 2: 'Die beplanning is vooraf op papier uiteengesit en op Spens gelaai — dit wys ons verstaan die probleem en die data-pyplyn.'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Lid 2: 'Ons het die skraper self geskryf en uitgevoer. Die API gee 100 resensies per versoek met 'n cursor vir paginasie — ons het 0.3 sekonde tussen versoeke gewag om die API nie te oorlaai nie.'</a:t>
            </a:r>
          </a:p>
          <a:p>
            <a:r>
              <a:t>Wys die kode op die skerm terwyl jy praat: 'Let op die deduplikasie via seen_ids en die 3-leë-bladsye-stop.'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Lid 1: 'Drie kernbesluite in die skraper: paginasie met 'n cursor, deduplikasie sodat ons nie dieselfde resensie dubbel tel nie, en 'n stop-reël na drie leë bladsye.'</a:t>
            </a:r>
          </a:p>
          <a:p>
            <a:r>
              <a:t>Lid 2: 'Ons het met 50 bladsye per speletjie gewerk — dit gee genoeg volume per speletjie vir genre-vlak analise.'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Lid 2: 'Hier is die resultaat van ons skraping: 161 630 rou resensies oor 33 speletjies en 30 tale. Engels is die grootste groep — belangrik omdat ons NLP in Fase 4 op Engelse resensies gaan doen.'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Lid 1: 'Voordat ons skoongemaak het, het ons die rou data ondersoek. Die grootste probleme: leë teks, baie kort spam-resensies, emoji-nonsens, en speeltyd-uitskieters soos 6 jaar.'</a:t>
            </a:r>
          </a:p>
          <a:p>
            <a:r>
              <a:t>Lid 2: 'Hierdie probleme moes aangespreek word anders sou hulle die analise in Fase 3 en 4 verwring.'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Lid 2: 'Elke skoonmaakstap het 'n rede. Byvoorbeeld: ons gooi resensies korter as 10 karakters weg omdat dit meestal spam is, en ons kap speeltyd-uitskieters af by die 99ste persentiel eerder as om hulle te verwyder — so ons behou die resensie maar neutraliseer die ekstreme waarde.'</a:t>
            </a:r>
          </a:p>
          <a:p>
            <a:r>
              <a:t>Lid 1: 'Die genre-one-hot kolomme kom uit ons GAME_GENRES-kartering — dit maak genre-vlak vergelyking in Fase 3 moontlik.'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Lid 1: 'Net 1.2% van die resensies is verwyder — die skraper lewer goeie data. Die groot waarde van skoonmaak lê in die struktuur: korrekte datatipes, afgeleide datums en genre-etikette.'</a:t>
            </a:r>
          </a:p>
          <a:p>
            <a:r>
              <a:t>Lid 2: 'Die pyplyn is herhaalbaar via een funksie, process_reviews(), wat ook VADER-kolomme van vorige lopies bewaar.'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Lid 2: 'Die finale datastel het 159 768 resensies en 42 kolomme. Die struktuur is ontwerp rondom ons navorsingsvraag: identifikasie, speler-gedrag, teks, datums — en die teikenkolom voted_up.'</a:t>
            </a:r>
          </a:p>
          <a:p>
            <a:r>
              <a:t>Lid 1: 'Datatipes is afgedwing sodat elke kolom reg is vir analise — byvoorbeeld bool vir aanbevelings en float vir speeltyd.'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Lid 1: 'Hier sien ons die volume per genre. Elke genre het genoeg resensies vir formele statistiese toetse in Fase 3. Let op: speletjies kan aan meer as een genre behoort — daarom gebruik ons one-hot-etikette eerder as 'n enkele genre-kolom.'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Lid 2: 'Ons Fase 3-plan: eers basiese statistieke per genre, dan formele t-toetse en ANOVA om genre-verskille te bewys, en patrone identifiseer vir die diepgaande analise.'</a:t>
            </a:r>
          </a:p>
          <a:p>
            <a:r>
              <a:t>Lid 1: 'Opsomming: ons het 161 630 resensies aktief geskraap en dit skoongemaak na 159 768 — 'n skoon, gestruktureerde datastel gereed vir Fase 3. Dankie vir julle tyd — enige vrae?'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8/13/2026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8/13/2026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8/13/2026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8/13/2026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8/13/2026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8/13/2026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8/13/2026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8/13/2026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8/13/2026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8/13/2026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8/13/2026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8/13/2026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7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7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7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7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7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7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7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7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7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7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7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B28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4224528"/>
            <a:ext cx="12191695" cy="50800"/>
          </a:xfrm>
          <a:prstGeom prst="rect">
            <a:avLst/>
          </a:prstGeom>
          <a:solidFill>
            <a:srgbClr val="66C0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914400" y="1463040"/>
            <a:ext cx="10332720" cy="10972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4000" b="1" i="0">
                <a:solidFill>
                  <a:srgbClr val="FFFFFF"/>
                </a:solidFill>
                <a:latin typeface="Calibri"/>
              </a:rPr>
              <a:t>FASE 2: DATA INSAMELING EN VERWERKING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" y="2514600"/>
            <a:ext cx="10332720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400" b="0" i="0">
                <a:solidFill>
                  <a:srgbClr val="66C0F4"/>
                </a:solidFill>
                <a:latin typeface="Calibri"/>
              </a:rPr>
              <a:t>Steam Game Genre Analysis — “Watter genre werk?”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" y="3291840"/>
            <a:ext cx="1033272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600" b="0" i="0">
                <a:solidFill>
                  <a:srgbClr val="BBCCDD"/>
                </a:solidFill>
                <a:latin typeface="Calibri"/>
              </a:rPr>
              <a:t>33 speletjies · 9 genres · 161 630 rou → 159 768 skoon resensies (Julie 2026-venster)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14400" y="4572000"/>
            <a:ext cx="10332720" cy="10972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600" b="0" i="0">
                <a:solidFill>
                  <a:srgbClr val="FFFFFF"/>
                </a:solidFill>
                <a:latin typeface="Calibri"/>
              </a:rPr>
              <a:t>Aktiewe webskraping via die Steam API  ·  Skoonmaak- &amp; voorbereidingspyplyn  ·  Plan vir Fase 3 (EDA)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4400" y="5852160"/>
            <a:ext cx="1033272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0" i="0">
                <a:solidFill>
                  <a:srgbClr val="6E7A89"/>
                </a:solidFill>
                <a:latin typeface="Calibri"/>
              </a:rPr>
              <a:t>Portefeulje Projek — Klasaanbieding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914400"/>
          </a:xfrm>
          <a:prstGeom prst="rect">
            <a:avLst/>
          </a:prstGeom>
          <a:solidFill>
            <a:srgbClr val="1B28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914400"/>
            <a:ext cx="12191695" cy="38100"/>
          </a:xfrm>
          <a:prstGeom prst="rect">
            <a:avLst/>
          </a:prstGeom>
          <a:solidFill>
            <a:srgbClr val="66C0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502920" y="164592"/>
            <a:ext cx="10515600" cy="5943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2600" b="1" i="0">
                <a:solidFill>
                  <a:srgbClr val="FFFFFF"/>
                </a:solidFill>
                <a:latin typeface="Calibri"/>
              </a:rPr>
              <a:t>Wat behels Fase 2?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292840" y="182880"/>
            <a:ext cx="73152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800" b="1" i="0">
                <a:solidFill>
                  <a:srgbClr val="66C0F4"/>
                </a:solidFill>
                <a:latin typeface="Calibri"/>
              </a:rPr>
              <a:t>02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1371600"/>
            <a:ext cx="557784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</a:pPr>
            <a:r>
              <a:rPr sz="1700" b="1">
                <a:solidFill>
                  <a:srgbClr val="1B2838"/>
                </a:solidFill>
                <a:latin typeface="Calibri"/>
              </a:rPr>
              <a:t>▪ Aktiewe data-insameling: </a:t>
            </a:r>
            <a:r>
              <a:rPr sz="1700">
                <a:solidFill>
                  <a:srgbClr val="1F2A36"/>
                </a:solidFill>
                <a:latin typeface="Calibri"/>
              </a:rPr>
              <a:t>webskraping van 33 speletjies se resensies, besonderhede en huidige spelertellings via die Steam API.</a:t>
            </a:r>
          </a:p>
          <a:p>
            <a:pPr>
              <a:spcAft>
                <a:spcPts val="1200"/>
              </a:spcAft>
            </a:pPr>
            <a:r>
              <a:rPr sz="1700" b="1">
                <a:solidFill>
                  <a:srgbClr val="1B2838"/>
                </a:solidFill>
                <a:latin typeface="Calibri"/>
              </a:rPr>
              <a:t>▪ Data skoonmaak: </a:t>
            </a:r>
            <a:r>
              <a:rPr sz="1700">
                <a:solidFill>
                  <a:srgbClr val="1F2A36"/>
                </a:solidFill>
                <a:latin typeface="Calibri"/>
              </a:rPr>
              <a:t>duplikate, leë teks, spam, ongeldige tydstempels en speeltyd-uitskieters hanteer.</a:t>
            </a:r>
          </a:p>
          <a:p>
            <a:pPr>
              <a:spcAft>
                <a:spcPts val="1200"/>
              </a:spcAft>
            </a:pPr>
            <a:r>
              <a:rPr sz="1700" b="1">
                <a:solidFill>
                  <a:srgbClr val="1B2838"/>
                </a:solidFill>
                <a:latin typeface="Calibri"/>
              </a:rPr>
              <a:t>▪ Voorbereiding: </a:t>
            </a:r>
            <a:r>
              <a:rPr sz="1700">
                <a:solidFill>
                  <a:srgbClr val="1F2A36"/>
                </a:solidFill>
                <a:latin typeface="Calibri"/>
              </a:rPr>
              <a:t>kenmerk-ingenieurswese + 9 genre-aanwyserkolomme vir genre-vlak analise.</a:t>
            </a:r>
          </a:p>
          <a:p>
            <a:pPr>
              <a:spcAft>
                <a:spcPts val="1200"/>
              </a:spcAft>
            </a:pPr>
            <a:r>
              <a:rPr sz="1700" b="1">
                <a:solidFill>
                  <a:srgbClr val="1B2838"/>
                </a:solidFill>
                <a:latin typeface="Calibri"/>
              </a:rPr>
              <a:t>▪ Dokumentasie: </a:t>
            </a:r>
            <a:r>
              <a:rPr sz="1700">
                <a:solidFill>
                  <a:srgbClr val="1F2A36"/>
                </a:solidFill>
                <a:latin typeface="Calibri"/>
              </a:rPr>
              <a:t>elke stap is herhaalbaar en in die notebook gedokumenteer.</a:t>
            </a:r>
          </a:p>
          <a:p>
            <a:pPr>
              <a:spcAft>
                <a:spcPts val="1200"/>
              </a:spcAft>
            </a:pPr>
            <a:r>
              <a:rPr sz="1700" b="1">
                <a:solidFill>
                  <a:srgbClr val="1B2838"/>
                </a:solidFill>
                <a:latin typeface="Calibri"/>
              </a:rPr>
              <a:t>▪ Plan vir Fase 3: </a:t>
            </a:r>
            <a:r>
              <a:rPr sz="1700">
                <a:solidFill>
                  <a:srgbClr val="1F2A36"/>
                </a:solidFill>
                <a:latin typeface="Calibri"/>
              </a:rPr>
              <a:t>verkennende data-analise word net beplan, nie uitgevoer nie.</a:t>
            </a:r>
          </a:p>
        </p:txBody>
      </p:sp>
      <p:sp>
        <p:nvSpPr>
          <p:cNvPr id="7" name="Rectangle 6"/>
          <p:cNvSpPr/>
          <p:nvPr/>
        </p:nvSpPr>
        <p:spPr>
          <a:xfrm>
            <a:off x="6400800" y="1371600"/>
            <a:ext cx="5120640" cy="502920"/>
          </a:xfrm>
          <a:prstGeom prst="rect">
            <a:avLst/>
          </a:prstGeom>
          <a:solidFill>
            <a:srgbClr val="1B28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6629400" y="1435608"/>
            <a:ext cx="475488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800" b="1" i="0">
                <a:solidFill>
                  <a:srgbClr val="FFFFFF"/>
                </a:solidFill>
                <a:latin typeface="Calibri"/>
              </a:rPr>
              <a:t>Agenda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0" y="2103120"/>
            <a:ext cx="5212080" cy="3657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1600">
                <a:solidFill>
                  <a:srgbClr val="1F2A36"/>
                </a:solidFill>
                <a:latin typeface="Calibri"/>
              </a:rPr>
              <a:t>▪ Navorsingsvraag &amp; beplanning</a:t>
            </a:r>
          </a:p>
          <a:p>
            <a:pPr>
              <a:spcAft>
                <a:spcPts val="1000"/>
              </a:spcAft>
            </a:pPr>
            <a:r>
              <a:rPr sz="1600">
                <a:solidFill>
                  <a:srgbClr val="1F2A36"/>
                </a:solidFill>
                <a:latin typeface="Calibri"/>
              </a:rPr>
              <a:t>▪ Aktiewe data-insameling (Steam API)</a:t>
            </a:r>
          </a:p>
          <a:p>
            <a:pPr>
              <a:spcAft>
                <a:spcPts val="1000"/>
              </a:spcAft>
            </a:pPr>
            <a:r>
              <a:rPr sz="1600">
                <a:solidFill>
                  <a:srgbClr val="1F2A36"/>
                </a:solidFill>
                <a:latin typeface="Calibri"/>
              </a:rPr>
              <a:t>▪ Probleme in die rou data</a:t>
            </a:r>
          </a:p>
          <a:p>
            <a:pPr>
              <a:spcAft>
                <a:spcPts val="1000"/>
              </a:spcAft>
            </a:pPr>
            <a:r>
              <a:rPr sz="1600">
                <a:solidFill>
                  <a:srgbClr val="1F2A36"/>
                </a:solidFill>
                <a:latin typeface="Calibri"/>
              </a:rPr>
              <a:t>▪ Skoonmaak &amp; voorbereiding</a:t>
            </a:r>
          </a:p>
          <a:p>
            <a:pPr>
              <a:spcAft>
                <a:spcPts val="1000"/>
              </a:spcAft>
            </a:pPr>
            <a:r>
              <a:rPr sz="1600">
                <a:solidFill>
                  <a:srgbClr val="1F2A36"/>
                </a:solidFill>
                <a:latin typeface="Calibri"/>
              </a:rPr>
              <a:t>▪ Finale datastel struktuur</a:t>
            </a:r>
          </a:p>
          <a:p>
            <a:pPr>
              <a:spcAft>
                <a:spcPts val="1000"/>
              </a:spcAft>
            </a:pPr>
            <a:r>
              <a:rPr sz="1600">
                <a:solidFill>
                  <a:srgbClr val="1F2A36"/>
                </a:solidFill>
                <a:latin typeface="Calibri"/>
              </a:rPr>
              <a:t>▪ Plan vir Fase 3 (EDA)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914400"/>
          </a:xfrm>
          <a:prstGeom prst="rect">
            <a:avLst/>
          </a:prstGeom>
          <a:solidFill>
            <a:srgbClr val="1B28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914400"/>
            <a:ext cx="12191695" cy="38100"/>
          </a:xfrm>
          <a:prstGeom prst="rect">
            <a:avLst/>
          </a:prstGeom>
          <a:solidFill>
            <a:srgbClr val="66C0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502920" y="164592"/>
            <a:ext cx="10515600" cy="5943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2600" b="1" i="0">
                <a:solidFill>
                  <a:srgbClr val="FFFFFF"/>
                </a:solidFill>
                <a:latin typeface="Calibri"/>
              </a:rPr>
              <a:t>Beplanning: Navorsingsvraag &amp; Databronne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292840" y="182880"/>
            <a:ext cx="73152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800" b="1" i="0">
                <a:solidFill>
                  <a:srgbClr val="66C0F4"/>
                </a:solidFill>
                <a:latin typeface="Calibri"/>
              </a:rPr>
              <a:t>03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1371600"/>
            <a:ext cx="5669280" cy="3291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1600" b="1">
                <a:solidFill>
                  <a:srgbClr val="1B2838"/>
                </a:solidFill>
                <a:latin typeface="Calibri"/>
              </a:rPr>
              <a:t>▪ Navorsingsvraag: </a:t>
            </a:r>
            <a:r>
              <a:rPr sz="1600">
                <a:solidFill>
                  <a:srgbClr val="1F2A36"/>
                </a:solidFill>
                <a:latin typeface="Calibri"/>
              </a:rPr>
              <a:t>“Watter genre werk?” — watter genre is die gewildste, watter kenmerke dryf sukses, en hoe lyk die kommentaar binne elke genre?</a:t>
            </a:r>
          </a:p>
          <a:p>
            <a:pPr>
              <a:spcAft>
                <a:spcPts val="1000"/>
              </a:spcAft>
            </a:pPr>
            <a:r>
              <a:rPr sz="1600" b="1">
                <a:solidFill>
                  <a:srgbClr val="1B2838"/>
                </a:solidFill>
                <a:latin typeface="Calibri"/>
              </a:rPr>
              <a:t>▪ Hipotese: </a:t>
            </a:r>
            <a:r>
              <a:rPr sz="1600">
                <a:solidFill>
                  <a:srgbClr val="1F2A36"/>
                </a:solidFill>
                <a:latin typeface="Calibri"/>
              </a:rPr>
              <a:t>genre bepaal basislyn-verwagtinge — suksesfaktore verskil beduidend tussen genres.</a:t>
            </a:r>
          </a:p>
          <a:p>
            <a:pPr>
              <a:spcAft>
                <a:spcPts val="1000"/>
              </a:spcAft>
            </a:pPr>
            <a:r>
              <a:rPr sz="1600" b="1">
                <a:solidFill>
                  <a:srgbClr val="1B2838"/>
                </a:solidFill>
                <a:latin typeface="Calibri"/>
              </a:rPr>
              <a:t>▪ Steekproef: </a:t>
            </a:r>
            <a:r>
              <a:rPr sz="1600">
                <a:solidFill>
                  <a:srgbClr val="1F2A36"/>
                </a:solidFill>
                <a:latin typeface="Calibri"/>
              </a:rPr>
              <a:t>33 speletjies oor 9 genres (RPG, Shooter, Hero Shooter, Battle Royale, Action, Strategy, Adventure, Survival, Free to Play).</a:t>
            </a:r>
          </a:p>
        </p:txBody>
      </p:sp>
      <p:sp>
        <p:nvSpPr>
          <p:cNvPr id="7" name="Rectangle 6"/>
          <p:cNvSpPr/>
          <p:nvPr/>
        </p:nvSpPr>
        <p:spPr>
          <a:xfrm>
            <a:off x="640080" y="3977639"/>
            <a:ext cx="5669280" cy="457200"/>
          </a:xfrm>
          <a:prstGeom prst="rect">
            <a:avLst/>
          </a:prstGeom>
          <a:solidFill>
            <a:srgbClr val="2A47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868680" y="4041648"/>
            <a:ext cx="530352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1" i="0">
                <a:solidFill>
                  <a:srgbClr val="FFFFFF"/>
                </a:solidFill>
                <a:latin typeface="Calibri"/>
              </a:rPr>
              <a:t>Databron: Steam API (slegs openbare data)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4617720"/>
            <a:ext cx="5669280" cy="1737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500">
                <a:solidFill>
                  <a:srgbClr val="1F2A36"/>
                </a:solidFill>
                <a:latin typeface="Calibri"/>
              </a:rPr>
              <a:t>▪ appreviews — resensies (taal, speeltyd, stem, teks)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1F2A36"/>
                </a:solidFill>
                <a:latin typeface="Calibri"/>
              </a:rPr>
              <a:t>▪ appdetails — besonderhede (prys, genres, kritici-telling)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1F2A36"/>
                </a:solidFill>
                <a:latin typeface="Calibri"/>
              </a:rPr>
              <a:t>▪ GetNumberOfCurrentPlayers — huidige spelertellings</a:t>
            </a:r>
          </a:p>
        </p:txBody>
      </p:sp>
      <p:sp>
        <p:nvSpPr>
          <p:cNvPr id="10" name="Rectangle 9"/>
          <p:cNvSpPr/>
          <p:nvPr/>
        </p:nvSpPr>
        <p:spPr>
          <a:xfrm>
            <a:off x="6583680" y="1371600"/>
            <a:ext cx="5029200" cy="502920"/>
          </a:xfrm>
          <a:prstGeom prst="rect">
            <a:avLst/>
          </a:prstGeom>
          <a:solidFill>
            <a:srgbClr val="A4D00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6812280" y="1435608"/>
            <a:ext cx="46634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700" b="1" i="0">
                <a:solidFill>
                  <a:srgbClr val="1B2838"/>
                </a:solidFill>
                <a:latin typeface="Calibri"/>
              </a:rPr>
              <a:t>Klasbeplanning (op papier, Spens)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583680" y="2103120"/>
            <a:ext cx="5120640" cy="3840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500">
                <a:solidFill>
                  <a:srgbClr val="1F2A36"/>
                </a:solidFill>
                <a:latin typeface="Calibri"/>
              </a:rPr>
              <a:t>▪ Doelwit per datastel gedefinieer (wat, hoekom, volume).</a:t>
            </a:r>
          </a:p>
          <a:p>
            <a:pPr>
              <a:spcAft>
                <a:spcPts val="800"/>
              </a:spcAft>
            </a:pPr>
            <a:r>
              <a:rPr sz="1500">
                <a:solidFill>
                  <a:srgbClr val="1F2A36"/>
                </a:solidFill>
                <a:latin typeface="Calibri"/>
              </a:rPr>
              <a:t>▪ Skraapstrategie: 33 speletjies, 0.3 s vertraging, deduplikasie.</a:t>
            </a:r>
          </a:p>
          <a:p>
            <a:pPr>
              <a:spcAft>
                <a:spcPts val="800"/>
              </a:spcAft>
            </a:pPr>
            <a:r>
              <a:rPr sz="1500">
                <a:solidFill>
                  <a:srgbClr val="1F2A36"/>
                </a:solidFill>
                <a:latin typeface="Calibri"/>
              </a:rPr>
              <a:t>▪ Skoonmaakplan: duplikate, leë teks, spam, uitskieters.</a:t>
            </a:r>
          </a:p>
          <a:p>
            <a:pPr>
              <a:spcAft>
                <a:spcPts val="800"/>
              </a:spcAft>
            </a:pPr>
            <a:r>
              <a:rPr sz="1500">
                <a:solidFill>
                  <a:srgbClr val="1F2A36"/>
                </a:solidFill>
                <a:latin typeface="Calibri"/>
              </a:rPr>
              <a:t>▪ Genres toegewys via GAME_GENRES-kartering (utils.py).</a:t>
            </a:r>
          </a:p>
          <a:p>
            <a:pPr>
              <a:spcAft>
                <a:spcPts val="800"/>
              </a:spcAft>
            </a:pPr>
            <a:r>
              <a:rPr sz="1500">
                <a:solidFill>
                  <a:srgbClr val="1F2A36"/>
                </a:solidFill>
                <a:latin typeface="Calibri"/>
              </a:rPr>
              <a:t>▪ Einddoel: skoon, gestruktureerde datastel gereed vir Fase 3.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914400"/>
          </a:xfrm>
          <a:prstGeom prst="rect">
            <a:avLst/>
          </a:prstGeom>
          <a:solidFill>
            <a:srgbClr val="1B28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914400"/>
            <a:ext cx="12191695" cy="38100"/>
          </a:xfrm>
          <a:prstGeom prst="rect">
            <a:avLst/>
          </a:prstGeom>
          <a:solidFill>
            <a:srgbClr val="66C0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502920" y="164592"/>
            <a:ext cx="10515600" cy="5943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2600" b="1" i="0">
                <a:solidFill>
                  <a:srgbClr val="FFFFFF"/>
                </a:solidFill>
                <a:latin typeface="Calibri"/>
              </a:rPr>
              <a:t>Aktiewe Data-Insameling: Steam API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292840" y="182880"/>
            <a:ext cx="73152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800" b="1" i="0">
                <a:solidFill>
                  <a:srgbClr val="66C0F4"/>
                </a:solidFill>
                <a:latin typeface="Calibri"/>
              </a:rPr>
              <a:t>04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1280160"/>
            <a:ext cx="5760720" cy="2377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600" b="1">
                <a:solidFill>
                  <a:srgbClr val="1B2838"/>
                </a:solidFill>
                <a:latin typeface="Calibri"/>
              </a:rPr>
              <a:t>▪ Webskraping self toegepas: </a:t>
            </a:r>
            <a:r>
              <a:rPr sz="1600">
                <a:solidFill>
                  <a:srgbClr val="1F2A36"/>
                </a:solidFill>
                <a:latin typeface="Calibri"/>
              </a:rPr>
              <a:t>Python + requests teen Steam se openbare API — geen klaargemaakte CSV afgelaai nie.</a:t>
            </a:r>
          </a:p>
          <a:p>
            <a:pPr>
              <a:spcAft>
                <a:spcPts val="800"/>
              </a:spcAft>
            </a:pPr>
            <a:r>
              <a:rPr sz="1600" b="1">
                <a:solidFill>
                  <a:srgbClr val="1B2838"/>
                </a:solidFill>
                <a:latin typeface="Calibri"/>
              </a:rPr>
              <a:t>▪ Resensies: </a:t>
            </a:r>
            <a:r>
              <a:rPr sz="1600">
                <a:solidFill>
                  <a:srgbClr val="1F2A36"/>
                </a:solidFill>
                <a:latin typeface="Calibri"/>
              </a:rPr>
              <a:t>ISteamReviews/appreviews — purchase_type=all, day_range=9999 (alle resensies).</a:t>
            </a:r>
          </a:p>
          <a:p>
            <a:pPr>
              <a:spcAft>
                <a:spcPts val="800"/>
              </a:spcAft>
            </a:pPr>
            <a:r>
              <a:rPr sz="1600" b="1">
                <a:solidFill>
                  <a:srgbClr val="1B2838"/>
                </a:solidFill>
                <a:latin typeface="Calibri"/>
              </a:rPr>
              <a:t>▪ Besonderhede: </a:t>
            </a:r>
            <a:r>
              <a:rPr sz="1600">
                <a:solidFill>
                  <a:srgbClr val="1F2A36"/>
                </a:solidFill>
                <a:latin typeface="Calibri"/>
              </a:rPr>
              <a:t>store.steampowered.com/api/appdetails per speletjie.</a:t>
            </a:r>
          </a:p>
          <a:p>
            <a:pPr>
              <a:spcAft>
                <a:spcPts val="800"/>
              </a:spcAft>
            </a:pPr>
            <a:r>
              <a:rPr sz="1600" b="1">
                <a:solidFill>
                  <a:srgbClr val="1B2838"/>
                </a:solidFill>
                <a:latin typeface="Calibri"/>
              </a:rPr>
              <a:t>▪ Spelers: </a:t>
            </a:r>
            <a:r>
              <a:rPr sz="1600">
                <a:solidFill>
                  <a:srgbClr val="1F2A36"/>
                </a:solidFill>
                <a:latin typeface="Calibri"/>
              </a:rPr>
              <a:t>ISteamUserStats/GetNumberOfCurrentPlayers — huidige snapshot.</a:t>
            </a:r>
          </a:p>
        </p:txBody>
      </p:sp>
      <p:sp>
        <p:nvSpPr>
          <p:cNvPr id="7" name="Rectangle 6"/>
          <p:cNvSpPr/>
          <p:nvPr/>
        </p:nvSpPr>
        <p:spPr>
          <a:xfrm>
            <a:off x="640080" y="3657600"/>
            <a:ext cx="10972800" cy="457200"/>
          </a:xfrm>
          <a:prstGeom prst="rect">
            <a:avLst/>
          </a:prstGeom>
          <a:solidFill>
            <a:srgbClr val="1B28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868680" y="3721608"/>
            <a:ext cx="105156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600" b="1" i="0">
                <a:solidFill>
                  <a:srgbClr val="FFFFFF"/>
                </a:solidFill>
                <a:latin typeface="Calibri"/>
              </a:rPr>
              <a:t>Skraap-kode (src/scrape.py)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4251960"/>
            <a:ext cx="10972800" cy="1554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>
                <a:solidFill>
                  <a:srgbClr val="104060"/>
                </a:solidFill>
                <a:latin typeface="Consolas"/>
              </a:rPr>
              <a:t>params = {'json': 1, 'language': 'all', 'num_per_page': 100,
          'purchase_type': 'all', 'day_range': 9999, 'cursor': cursor}
data = safe_request(f'https://store.steampowered.com/appreviews/{app_id}', params)
for r in data['reviews']:            # 0.3 s vertraging tussen bladsye
    if r['recommendationid'] not in seen_ids:   # deduplikasie
        seen_ids.add(r['recommendationid']);  all_reviews.append(parse(r))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0080" y="5897880"/>
            <a:ext cx="109728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0" i="1">
                <a:solidFill>
                  <a:srgbClr val="6E7A89"/>
                </a:solidFill>
                <a:latin typeface="Calibri"/>
              </a:rPr>
              <a:t>Dedup via seen_ids · stop na 3 leë bladsye · 50 bladsye per speletjie (progressiewe herskraper)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914400"/>
          </a:xfrm>
          <a:prstGeom prst="rect">
            <a:avLst/>
          </a:prstGeom>
          <a:solidFill>
            <a:srgbClr val="1B28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914400"/>
            <a:ext cx="12191695" cy="38100"/>
          </a:xfrm>
          <a:prstGeom prst="rect">
            <a:avLst/>
          </a:prstGeom>
          <a:solidFill>
            <a:srgbClr val="66C0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502920" y="164592"/>
            <a:ext cx="10515600" cy="5943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2600" b="1" i="0">
                <a:solidFill>
                  <a:srgbClr val="FFFFFF"/>
                </a:solidFill>
                <a:latin typeface="Calibri"/>
              </a:rPr>
              <a:t>Skraping-metode: Hoe dit werk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292840" y="182880"/>
            <a:ext cx="73152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800" b="1" i="0">
                <a:solidFill>
                  <a:srgbClr val="66C0F4"/>
                </a:solidFill>
                <a:latin typeface="Calibri"/>
              </a:rPr>
              <a:t>05</a:t>
            </a:r>
          </a:p>
        </p:txBody>
      </p:sp>
      <p:sp>
        <p:nvSpPr>
          <p:cNvPr id="6" name="Rectangle 5"/>
          <p:cNvSpPr/>
          <p:nvPr/>
        </p:nvSpPr>
        <p:spPr>
          <a:xfrm>
            <a:off x="640080" y="1371600"/>
            <a:ext cx="3566160" cy="1051560"/>
          </a:xfrm>
          <a:prstGeom prst="rect">
            <a:avLst/>
          </a:prstGeom>
          <a:solidFill>
            <a:srgbClr val="F2F6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868680" y="1481328"/>
            <a:ext cx="310896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0" i="0">
                <a:solidFill>
                  <a:srgbClr val="1F2A36"/>
                </a:solidFill>
                <a:latin typeface="Calibri"/>
              </a:rPr>
              <a:t>1. Paginasie
100 resensies per versoek, cursor beweeg deur alle bladsye</a:t>
            </a:r>
          </a:p>
        </p:txBody>
      </p:sp>
      <p:sp>
        <p:nvSpPr>
          <p:cNvPr id="8" name="Rectangle 7"/>
          <p:cNvSpPr/>
          <p:nvPr/>
        </p:nvSpPr>
        <p:spPr>
          <a:xfrm>
            <a:off x="4480560" y="1371600"/>
            <a:ext cx="3566160" cy="1051560"/>
          </a:xfrm>
          <a:prstGeom prst="rect">
            <a:avLst/>
          </a:prstGeom>
          <a:solidFill>
            <a:srgbClr val="F2F6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4709160" y="1481328"/>
            <a:ext cx="310896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0" i="0">
                <a:solidFill>
                  <a:srgbClr val="1F2A36"/>
                </a:solidFill>
                <a:latin typeface="Calibri"/>
              </a:rPr>
              <a:t>2. Deduplikasie
seen_ids verhoed dat dieselfde resensie twee keer gestoor word</a:t>
            </a:r>
          </a:p>
        </p:txBody>
      </p:sp>
      <p:sp>
        <p:nvSpPr>
          <p:cNvPr id="10" name="Rectangle 9"/>
          <p:cNvSpPr/>
          <p:nvPr/>
        </p:nvSpPr>
        <p:spPr>
          <a:xfrm>
            <a:off x="8321040" y="1371600"/>
            <a:ext cx="3200400" cy="1051560"/>
          </a:xfrm>
          <a:prstGeom prst="rect">
            <a:avLst/>
          </a:prstGeom>
          <a:solidFill>
            <a:srgbClr val="F2F6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8549640" y="1481328"/>
            <a:ext cx="274320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0" i="0">
                <a:solidFill>
                  <a:srgbClr val="1F2A36"/>
                </a:solidFill>
                <a:latin typeface="Calibri"/>
              </a:rPr>
              <a:t>3. Stop-reël
3 opeenvolgende leë bladsye = einde van die speletjie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0080" y="2743200"/>
            <a:ext cx="5669280" cy="3200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1600" b="1">
                <a:solidFill>
                  <a:srgbClr val="1B2838"/>
                </a:solidFill>
                <a:latin typeface="Calibri"/>
              </a:rPr>
              <a:t>▪ Volume: </a:t>
            </a:r>
            <a:r>
              <a:rPr sz="1600">
                <a:solidFill>
                  <a:srgbClr val="1F2A36"/>
                </a:solidFill>
                <a:latin typeface="Calibri"/>
              </a:rPr>
              <a:t>50 bladsye per speletjie (herskraper), 33 speletjies.</a:t>
            </a:r>
          </a:p>
          <a:p>
            <a:pPr>
              <a:spcAft>
                <a:spcPts val="1000"/>
              </a:spcAft>
            </a:pPr>
            <a:r>
              <a:rPr sz="1600" b="1">
                <a:solidFill>
                  <a:srgbClr val="1B2838"/>
                </a:solidFill>
                <a:latin typeface="Calibri"/>
              </a:rPr>
              <a:t>▪ Tempo: </a:t>
            </a:r>
            <a:r>
              <a:rPr sz="1600">
                <a:solidFill>
                  <a:srgbClr val="1F2A36"/>
                </a:solidFill>
                <a:latin typeface="Calibri"/>
              </a:rPr>
              <a:t>0.3 s vertraging + herprobeer (3×) by foute — vriendelik teenoor die API.</a:t>
            </a:r>
          </a:p>
          <a:p>
            <a:pPr>
              <a:spcAft>
                <a:spcPts val="1000"/>
              </a:spcAft>
            </a:pPr>
            <a:r>
              <a:rPr sz="1600" b="1">
                <a:solidFill>
                  <a:srgbClr val="1B2838"/>
                </a:solidFill>
                <a:latin typeface="Calibri"/>
              </a:rPr>
              <a:t>▪ Tailering: </a:t>
            </a:r>
            <a:r>
              <a:rPr sz="1600">
                <a:solidFill>
                  <a:srgbClr val="1F2A36"/>
                </a:solidFill>
                <a:latin typeface="Calibri"/>
              </a:rPr>
              <a:t>language=all — ons het alle tale gekry (30 tale).</a:t>
            </a:r>
          </a:p>
          <a:p>
            <a:pPr>
              <a:spcAft>
                <a:spcPts val="1000"/>
              </a:spcAft>
            </a:pPr>
            <a:r>
              <a:rPr sz="1600" b="1">
                <a:solidFill>
                  <a:srgbClr val="1B2838"/>
                </a:solidFill>
                <a:latin typeface="Calibri"/>
              </a:rPr>
              <a:t>▪ Resultaat: </a:t>
            </a:r>
            <a:r>
              <a:rPr sz="1600">
                <a:solidFill>
                  <a:srgbClr val="1F2A36"/>
                </a:solidFill>
                <a:latin typeface="Calibri"/>
              </a:rPr>
              <a:t>161 630 rou resensies oor 33 speletjies.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583680" y="2743200"/>
            <a:ext cx="5029200" cy="457200"/>
          </a:xfrm>
          <a:prstGeom prst="rect">
            <a:avLst/>
          </a:prstGeom>
          <a:solidFill>
            <a:srgbClr val="2A47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TextBox 13"/>
          <p:cNvSpPr txBox="1"/>
          <p:nvPr/>
        </p:nvSpPr>
        <p:spPr>
          <a:xfrm>
            <a:off x="6812280" y="2807208"/>
            <a:ext cx="46634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1" i="0">
                <a:solidFill>
                  <a:srgbClr val="FFFFFF"/>
                </a:solidFill>
                <a:latin typeface="Calibri"/>
              </a:rPr>
              <a:t>Wat ons geskraap het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583680" y="3383280"/>
            <a:ext cx="5120640" cy="2743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500">
                <a:solidFill>
                  <a:srgbClr val="1F2A36"/>
                </a:solidFill>
                <a:latin typeface="Calibri"/>
              </a:rPr>
              <a:t>▪ 161 630 resensies (review_id, teks, taal, speeltyd, stem, aankoop)</a:t>
            </a:r>
          </a:p>
          <a:p>
            <a:pPr>
              <a:spcAft>
                <a:spcPts val="800"/>
              </a:spcAft>
            </a:pPr>
            <a:r>
              <a:rPr sz="1500">
                <a:solidFill>
                  <a:srgbClr val="1F2A36"/>
                </a:solidFill>
                <a:latin typeface="Calibri"/>
              </a:rPr>
              <a:t>▪ 33 speletjie-profiele (prys, genres, ontwikkelaar, Metacritic)</a:t>
            </a:r>
          </a:p>
          <a:p>
            <a:pPr>
              <a:spcAft>
                <a:spcPts val="800"/>
              </a:spcAft>
            </a:pPr>
            <a:r>
              <a:rPr sz="1500">
                <a:solidFill>
                  <a:srgbClr val="1F2A36"/>
                </a:solidFill>
                <a:latin typeface="Calibri"/>
              </a:rPr>
              <a:t>▪ 33 huidige spelertellings (snapshot)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914400"/>
          </a:xfrm>
          <a:prstGeom prst="rect">
            <a:avLst/>
          </a:prstGeom>
          <a:solidFill>
            <a:srgbClr val="1B28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914400"/>
            <a:ext cx="12191695" cy="38100"/>
          </a:xfrm>
          <a:prstGeom prst="rect">
            <a:avLst/>
          </a:prstGeom>
          <a:solidFill>
            <a:srgbClr val="66C0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502920" y="164592"/>
            <a:ext cx="10515600" cy="5943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2600" b="1" i="0">
                <a:solidFill>
                  <a:srgbClr val="FFFFFF"/>
                </a:solidFill>
                <a:latin typeface="Calibri"/>
              </a:rPr>
              <a:t>Wat ons ingesamel het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292840" y="182880"/>
            <a:ext cx="73152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800" b="1" i="0">
                <a:solidFill>
                  <a:srgbClr val="66C0F4"/>
                </a:solidFill>
                <a:latin typeface="Calibri"/>
              </a:rPr>
              <a:t>06</a:t>
            </a:r>
          </a:p>
        </p:txBody>
      </p:sp>
      <p:sp>
        <p:nvSpPr>
          <p:cNvPr id="6" name="Rectangle 5"/>
          <p:cNvSpPr/>
          <p:nvPr/>
        </p:nvSpPr>
        <p:spPr>
          <a:xfrm>
            <a:off x="640080" y="1280160"/>
            <a:ext cx="2606040" cy="1234440"/>
          </a:xfrm>
          <a:prstGeom prst="rect">
            <a:avLst/>
          </a:prstGeom>
          <a:solidFill>
            <a:srgbClr val="1B28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868680" y="1417320"/>
            <a:ext cx="2194560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2600" b="1" i="0">
                <a:solidFill>
                  <a:srgbClr val="FFFFFF"/>
                </a:solidFill>
                <a:latin typeface="Calibri"/>
              </a:rPr>
              <a:t>161 630
rou resensies</a:t>
            </a:r>
          </a:p>
        </p:txBody>
      </p:sp>
      <p:sp>
        <p:nvSpPr>
          <p:cNvPr id="8" name="Rectangle 7"/>
          <p:cNvSpPr/>
          <p:nvPr/>
        </p:nvSpPr>
        <p:spPr>
          <a:xfrm>
            <a:off x="3474720" y="1280160"/>
            <a:ext cx="2606040" cy="1234440"/>
          </a:xfrm>
          <a:prstGeom prst="rect">
            <a:avLst/>
          </a:prstGeom>
          <a:solidFill>
            <a:srgbClr val="1B28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3703320" y="1417320"/>
            <a:ext cx="2194560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2600" b="1" i="0">
                <a:solidFill>
                  <a:srgbClr val="FFFFFF"/>
                </a:solidFill>
                <a:latin typeface="Calibri"/>
              </a:rPr>
              <a:t>33
speletjies</a:t>
            </a:r>
          </a:p>
        </p:txBody>
      </p:sp>
      <p:sp>
        <p:nvSpPr>
          <p:cNvPr id="10" name="Rectangle 9"/>
          <p:cNvSpPr/>
          <p:nvPr/>
        </p:nvSpPr>
        <p:spPr>
          <a:xfrm>
            <a:off x="6309360" y="1280160"/>
            <a:ext cx="2606040" cy="1234440"/>
          </a:xfrm>
          <a:prstGeom prst="rect">
            <a:avLst/>
          </a:prstGeom>
          <a:solidFill>
            <a:srgbClr val="1B28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6537960" y="1417320"/>
            <a:ext cx="2194560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2600" b="1" i="0">
                <a:solidFill>
                  <a:srgbClr val="FFFFFF"/>
                </a:solidFill>
                <a:latin typeface="Calibri"/>
              </a:rPr>
              <a:t>9
genres</a:t>
            </a:r>
          </a:p>
        </p:txBody>
      </p:sp>
      <p:sp>
        <p:nvSpPr>
          <p:cNvPr id="12" name="Rectangle 11"/>
          <p:cNvSpPr/>
          <p:nvPr/>
        </p:nvSpPr>
        <p:spPr>
          <a:xfrm>
            <a:off x="9144000" y="1280160"/>
            <a:ext cx="2606040" cy="1234440"/>
          </a:xfrm>
          <a:prstGeom prst="rect">
            <a:avLst/>
          </a:prstGeom>
          <a:solidFill>
            <a:srgbClr val="1B28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9372600" y="1417320"/>
            <a:ext cx="2194560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2600" b="1" i="0">
                <a:solidFill>
                  <a:srgbClr val="FFFFFF"/>
                </a:solidFill>
                <a:latin typeface="Calibri"/>
              </a:rPr>
              <a:t>30
tale</a:t>
            </a:r>
          </a:p>
        </p:txBody>
      </p:sp>
      <p:pic>
        <p:nvPicPr>
          <p:cNvPr id="14" name="Picture 13" descr="fig2_languages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31520" y="2834640"/>
            <a:ext cx="6675120" cy="3560064"/>
          </a:xfrm>
          <a:prstGeom prst="rect">
            <a:avLst/>
          </a:prstGeom>
        </p:spPr>
      </p:pic>
      <p:sp>
        <p:nvSpPr>
          <p:cNvPr id="15" name="TextBox 14"/>
          <p:cNvSpPr txBox="1"/>
          <p:nvPr/>
        </p:nvSpPr>
        <p:spPr>
          <a:xfrm>
            <a:off x="7772400" y="2926080"/>
            <a:ext cx="4023360" cy="3108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1500" b="1">
                <a:solidFill>
                  <a:srgbClr val="1B2838"/>
                </a:solidFill>
                <a:latin typeface="Calibri"/>
              </a:rPr>
              <a:t>▪ Engels is dominant </a:t>
            </a:r>
            <a:r>
              <a:rPr sz="1500">
                <a:solidFill>
                  <a:srgbClr val="1F2A36"/>
                </a:solidFill>
                <a:latin typeface="Calibri"/>
              </a:rPr>
              <a:t>(79 521) — geskik vir NLP in Fase 4.</a:t>
            </a:r>
          </a:p>
          <a:p>
            <a:pPr>
              <a:spcAft>
                <a:spcPts val="1000"/>
              </a:spcAft>
            </a:pPr>
            <a:r>
              <a:rPr sz="1500" b="1">
                <a:solidFill>
                  <a:srgbClr val="1B2838"/>
                </a:solidFill>
                <a:latin typeface="Calibri"/>
              </a:rPr>
              <a:t>▪ Spaans, Portugees, Russies </a:t>
            </a:r>
            <a:r>
              <a:rPr sz="1500">
                <a:solidFill>
                  <a:srgbClr val="1F2A36"/>
                </a:solidFill>
                <a:latin typeface="Calibri"/>
              </a:rPr>
              <a:t>ook sterk teenwoordig.</a:t>
            </a:r>
          </a:p>
          <a:p>
            <a:pPr>
              <a:spcAft>
                <a:spcPts val="1000"/>
              </a:spcAft>
            </a:pPr>
            <a:r>
              <a:rPr sz="1500" b="1">
                <a:solidFill>
                  <a:srgbClr val="1B2838"/>
                </a:solidFill>
                <a:latin typeface="Calibri"/>
              </a:rPr>
              <a:t>▪ Belangrik vir Fase 3: </a:t>
            </a:r>
            <a:r>
              <a:rPr sz="1500">
                <a:solidFill>
                  <a:srgbClr val="1F2A36"/>
                </a:solidFill>
                <a:latin typeface="Calibri"/>
              </a:rPr>
              <a:t>taal is ’n konteks-kolom, nie ’n fokus nie.</a:t>
            </a:r>
          </a:p>
          <a:p>
            <a:pPr>
              <a:spcAft>
                <a:spcPts val="1000"/>
              </a:spcAft>
            </a:pPr>
            <a:r>
              <a:rPr sz="1500" b="1">
                <a:solidFill>
                  <a:srgbClr val="1B2838"/>
                </a:solidFill>
                <a:latin typeface="Calibri"/>
              </a:rPr>
              <a:t>▪ app_details.csv + player_counts.csv </a:t>
            </a:r>
            <a:r>
              <a:rPr sz="1500">
                <a:solidFill>
                  <a:srgbClr val="1F2A36"/>
                </a:solidFill>
                <a:latin typeface="Calibri"/>
              </a:rPr>
              <a:t>ondersteun genre-rangorde.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914400"/>
          </a:xfrm>
          <a:prstGeom prst="rect">
            <a:avLst/>
          </a:prstGeom>
          <a:solidFill>
            <a:srgbClr val="1B28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914400"/>
            <a:ext cx="12191695" cy="38100"/>
          </a:xfrm>
          <a:prstGeom prst="rect">
            <a:avLst/>
          </a:prstGeom>
          <a:solidFill>
            <a:srgbClr val="66C0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502920" y="164592"/>
            <a:ext cx="10515600" cy="5943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2600" b="1" i="0">
                <a:solidFill>
                  <a:srgbClr val="FFFFFF"/>
                </a:solidFill>
                <a:latin typeface="Calibri"/>
              </a:rPr>
              <a:t>Probleme in die Rou Data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292840" y="182880"/>
            <a:ext cx="73152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800" b="1" i="0">
                <a:solidFill>
                  <a:srgbClr val="66C0F4"/>
                </a:solidFill>
                <a:latin typeface="Calibri"/>
              </a:rPr>
              <a:t>07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1280160"/>
            <a:ext cx="5760720" cy="287258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100"/>
              </a:spcAft>
            </a:pPr>
            <a:r>
              <a:rPr sz="1600" b="1" dirty="0">
                <a:solidFill>
                  <a:srgbClr val="1B2838"/>
                </a:solidFill>
                <a:latin typeface="Calibri"/>
              </a:rPr>
              <a:t>▪ </a:t>
            </a:r>
            <a:r>
              <a:rPr sz="1600" b="1" dirty="0" err="1">
                <a:solidFill>
                  <a:srgbClr val="1B2838"/>
                </a:solidFill>
                <a:latin typeface="Calibri"/>
              </a:rPr>
              <a:t>Leë</a:t>
            </a:r>
            <a:r>
              <a:rPr sz="1600" b="1" dirty="0">
                <a:solidFill>
                  <a:srgbClr val="1B2838"/>
                </a:solidFill>
                <a:latin typeface="Calibri"/>
              </a:rPr>
              <a:t> / </a:t>
            </a:r>
            <a:r>
              <a:rPr sz="1600" b="1" dirty="0" err="1">
                <a:solidFill>
                  <a:srgbClr val="1B2838"/>
                </a:solidFill>
                <a:latin typeface="Calibri"/>
              </a:rPr>
              <a:t>ontbrekende</a:t>
            </a:r>
            <a:r>
              <a:rPr sz="1600" b="1" dirty="0">
                <a:solidFill>
                  <a:srgbClr val="1B2838"/>
                </a:solidFill>
                <a:latin typeface="Calibri"/>
              </a:rPr>
              <a:t> </a:t>
            </a:r>
            <a:r>
              <a:rPr sz="1600" b="1" dirty="0" err="1">
                <a:solidFill>
                  <a:srgbClr val="1B2838"/>
                </a:solidFill>
                <a:latin typeface="Calibri"/>
              </a:rPr>
              <a:t>teks</a:t>
            </a:r>
            <a:r>
              <a:rPr sz="1600" b="1" dirty="0">
                <a:solidFill>
                  <a:srgbClr val="1B2838"/>
                </a:solidFill>
                <a:latin typeface="Calibri"/>
              </a:rPr>
              <a:t>: </a:t>
            </a:r>
            <a:r>
              <a:rPr sz="1600" dirty="0">
                <a:solidFill>
                  <a:srgbClr val="1F2A36"/>
                </a:solidFill>
                <a:latin typeface="Calibri"/>
              </a:rPr>
              <a:t>32 </a:t>
            </a:r>
            <a:r>
              <a:rPr sz="1600" dirty="0" err="1">
                <a:solidFill>
                  <a:srgbClr val="1F2A36"/>
                </a:solidFill>
                <a:latin typeface="Calibri"/>
              </a:rPr>
              <a:t>resensies</a:t>
            </a:r>
            <a:r>
              <a:rPr sz="1600" dirty="0">
                <a:solidFill>
                  <a:srgbClr val="1F2A36"/>
                </a:solidFill>
                <a:latin typeface="Calibri"/>
              </a:rPr>
              <a:t> sonder </a:t>
            </a:r>
            <a:r>
              <a:rPr sz="1600" dirty="0" err="1">
                <a:solidFill>
                  <a:srgbClr val="1F2A36"/>
                </a:solidFill>
                <a:latin typeface="Calibri"/>
              </a:rPr>
              <a:t>bruikbare</a:t>
            </a:r>
            <a:r>
              <a:rPr sz="1600" dirty="0">
                <a:solidFill>
                  <a:srgbClr val="1F2A36"/>
                </a:solidFill>
                <a:latin typeface="Calibri"/>
              </a:rPr>
              <a:t> </a:t>
            </a:r>
            <a:r>
              <a:rPr sz="1600" dirty="0" err="1">
                <a:solidFill>
                  <a:srgbClr val="1F2A36"/>
                </a:solidFill>
                <a:latin typeface="Calibri"/>
              </a:rPr>
              <a:t>teks</a:t>
            </a:r>
            <a:r>
              <a:rPr sz="1600" dirty="0">
                <a:solidFill>
                  <a:srgbClr val="1F2A36"/>
                </a:solidFill>
                <a:latin typeface="Calibri"/>
              </a:rPr>
              <a:t>.</a:t>
            </a:r>
          </a:p>
          <a:p>
            <a:pPr>
              <a:spcAft>
                <a:spcPts val="1100"/>
              </a:spcAft>
            </a:pPr>
            <a:r>
              <a:rPr sz="1600" b="1" dirty="0">
                <a:solidFill>
                  <a:srgbClr val="1B2838"/>
                </a:solidFill>
                <a:latin typeface="Calibri"/>
              </a:rPr>
              <a:t>▪ </a:t>
            </a:r>
            <a:r>
              <a:rPr sz="1600" b="1" dirty="0" err="1">
                <a:solidFill>
                  <a:srgbClr val="1B2838"/>
                </a:solidFill>
                <a:latin typeface="Calibri"/>
              </a:rPr>
              <a:t>Te</a:t>
            </a:r>
            <a:r>
              <a:rPr sz="1600" b="1" dirty="0">
                <a:solidFill>
                  <a:srgbClr val="1B2838"/>
                </a:solidFill>
                <a:latin typeface="Calibri"/>
              </a:rPr>
              <a:t> </a:t>
            </a:r>
            <a:r>
              <a:rPr sz="1600" b="1" dirty="0" err="1">
                <a:solidFill>
                  <a:srgbClr val="1B2838"/>
                </a:solidFill>
                <a:latin typeface="Calibri"/>
              </a:rPr>
              <a:t>kort</a:t>
            </a:r>
            <a:r>
              <a:rPr sz="1600" b="1" dirty="0">
                <a:solidFill>
                  <a:srgbClr val="1B2838"/>
                </a:solidFill>
                <a:latin typeface="Calibri"/>
              </a:rPr>
              <a:t> (spam): </a:t>
            </a:r>
            <a:r>
              <a:rPr sz="1600" dirty="0">
                <a:solidFill>
                  <a:srgbClr val="1F2A36"/>
                </a:solidFill>
                <a:latin typeface="Calibri"/>
              </a:rPr>
              <a:t>1 815 </a:t>
            </a:r>
            <a:r>
              <a:rPr sz="1600" dirty="0" err="1">
                <a:solidFill>
                  <a:srgbClr val="1F2A36"/>
                </a:solidFill>
                <a:latin typeface="Calibri"/>
              </a:rPr>
              <a:t>resensies</a:t>
            </a:r>
            <a:r>
              <a:rPr sz="1600" dirty="0">
                <a:solidFill>
                  <a:srgbClr val="1F2A36"/>
                </a:solidFill>
                <a:latin typeface="Calibri"/>
              </a:rPr>
              <a:t> </a:t>
            </a:r>
            <a:r>
              <a:rPr sz="1600" dirty="0" err="1">
                <a:solidFill>
                  <a:srgbClr val="1F2A36"/>
                </a:solidFill>
                <a:latin typeface="Calibri"/>
              </a:rPr>
              <a:t>korter</a:t>
            </a:r>
            <a:r>
              <a:rPr sz="1600" dirty="0">
                <a:solidFill>
                  <a:srgbClr val="1F2A36"/>
                </a:solidFill>
                <a:latin typeface="Calibri"/>
              </a:rPr>
              <a:t> as 10 </a:t>
            </a:r>
            <a:r>
              <a:rPr sz="1600" dirty="0" err="1">
                <a:solidFill>
                  <a:srgbClr val="1F2A36"/>
                </a:solidFill>
                <a:latin typeface="Calibri"/>
              </a:rPr>
              <a:t>karakters</a:t>
            </a:r>
            <a:r>
              <a:rPr sz="1600" dirty="0">
                <a:solidFill>
                  <a:srgbClr val="1F2A36"/>
                </a:solidFill>
                <a:latin typeface="Calibri"/>
              </a:rPr>
              <a:t> (bv. “gg”, “10/10”).</a:t>
            </a:r>
          </a:p>
          <a:p>
            <a:pPr>
              <a:spcAft>
                <a:spcPts val="1100"/>
              </a:spcAft>
            </a:pPr>
            <a:r>
              <a:rPr sz="1600" b="1" dirty="0">
                <a:solidFill>
                  <a:srgbClr val="1B2838"/>
                </a:solidFill>
                <a:latin typeface="Calibri"/>
              </a:rPr>
              <a:t>▪ </a:t>
            </a:r>
            <a:r>
              <a:rPr sz="1600" b="1" dirty="0" err="1">
                <a:solidFill>
                  <a:srgbClr val="1B2838"/>
                </a:solidFill>
                <a:latin typeface="Calibri"/>
              </a:rPr>
              <a:t>Nonsens</a:t>
            </a:r>
            <a:r>
              <a:rPr sz="1600" b="1" dirty="0">
                <a:solidFill>
                  <a:srgbClr val="1B2838"/>
                </a:solidFill>
                <a:latin typeface="Calibri"/>
              </a:rPr>
              <a:t> / emoji-spam: </a:t>
            </a:r>
            <a:r>
              <a:rPr sz="1600" dirty="0">
                <a:solidFill>
                  <a:srgbClr val="1F2A36"/>
                </a:solidFill>
                <a:latin typeface="Calibri"/>
              </a:rPr>
              <a:t>335 </a:t>
            </a:r>
            <a:r>
              <a:rPr sz="1600" dirty="0" err="1">
                <a:solidFill>
                  <a:srgbClr val="1F2A36"/>
                </a:solidFill>
                <a:latin typeface="Calibri"/>
              </a:rPr>
              <a:t>resensies</a:t>
            </a:r>
            <a:r>
              <a:rPr sz="1600" dirty="0">
                <a:solidFill>
                  <a:srgbClr val="1F2A36"/>
                </a:solidFill>
                <a:latin typeface="Calibri"/>
              </a:rPr>
              <a:t> </a:t>
            </a:r>
            <a:r>
              <a:rPr sz="1600" dirty="0" err="1">
                <a:solidFill>
                  <a:srgbClr val="1F2A36"/>
                </a:solidFill>
                <a:latin typeface="Calibri"/>
              </a:rPr>
              <a:t>waar</a:t>
            </a:r>
            <a:r>
              <a:rPr sz="1600" dirty="0">
                <a:solidFill>
                  <a:srgbClr val="1F2A36"/>
                </a:solidFill>
                <a:latin typeface="Calibri"/>
              </a:rPr>
              <a:t> &gt;50% van </a:t>
            </a:r>
            <a:r>
              <a:rPr sz="1600" dirty="0" err="1">
                <a:solidFill>
                  <a:srgbClr val="1F2A36"/>
                </a:solidFill>
                <a:latin typeface="Calibri"/>
              </a:rPr>
              <a:t>karakters</a:t>
            </a:r>
            <a:r>
              <a:rPr sz="1600" dirty="0">
                <a:solidFill>
                  <a:srgbClr val="1F2A36"/>
                </a:solidFill>
                <a:latin typeface="Calibri"/>
              </a:rPr>
              <a:t> </a:t>
            </a:r>
            <a:r>
              <a:rPr sz="1600" dirty="0" err="1">
                <a:solidFill>
                  <a:srgbClr val="1F2A36"/>
                </a:solidFill>
                <a:latin typeface="Calibri"/>
              </a:rPr>
              <a:t>nie</a:t>
            </a:r>
            <a:r>
              <a:rPr sz="1600" dirty="0">
                <a:solidFill>
                  <a:srgbClr val="1F2A36"/>
                </a:solidFill>
                <a:latin typeface="Calibri"/>
              </a:rPr>
              <a:t> </a:t>
            </a:r>
            <a:r>
              <a:rPr sz="1600" dirty="0" err="1">
                <a:solidFill>
                  <a:srgbClr val="1F2A36"/>
                </a:solidFill>
                <a:latin typeface="Calibri"/>
              </a:rPr>
              <a:t>alfabeties</a:t>
            </a:r>
            <a:r>
              <a:rPr sz="1600" dirty="0">
                <a:solidFill>
                  <a:srgbClr val="1F2A36"/>
                </a:solidFill>
                <a:latin typeface="Calibri"/>
              </a:rPr>
              <a:t> is </a:t>
            </a:r>
            <a:r>
              <a:rPr sz="1600" dirty="0" err="1">
                <a:solidFill>
                  <a:srgbClr val="1F2A36"/>
                </a:solidFill>
                <a:latin typeface="Calibri"/>
              </a:rPr>
              <a:t>nie</a:t>
            </a:r>
            <a:r>
              <a:rPr sz="1600" dirty="0">
                <a:solidFill>
                  <a:srgbClr val="1F2A36"/>
                </a:solidFill>
                <a:latin typeface="Calibri"/>
              </a:rPr>
              <a:t>.</a:t>
            </a:r>
          </a:p>
          <a:p>
            <a:pPr>
              <a:spcAft>
                <a:spcPts val="1100"/>
              </a:spcAft>
            </a:pPr>
            <a:r>
              <a:rPr sz="1600" b="1" dirty="0">
                <a:solidFill>
                  <a:srgbClr val="1B2838"/>
                </a:solidFill>
                <a:latin typeface="Calibri"/>
              </a:rPr>
              <a:t>▪ 30 </a:t>
            </a:r>
            <a:r>
              <a:rPr sz="1600" b="1" dirty="0" err="1">
                <a:solidFill>
                  <a:srgbClr val="1B2838"/>
                </a:solidFill>
                <a:latin typeface="Calibri"/>
              </a:rPr>
              <a:t>verskillende</a:t>
            </a:r>
            <a:r>
              <a:rPr sz="1600" b="1" dirty="0">
                <a:solidFill>
                  <a:srgbClr val="1B2838"/>
                </a:solidFill>
                <a:latin typeface="Calibri"/>
              </a:rPr>
              <a:t> tale: </a:t>
            </a:r>
            <a:r>
              <a:rPr sz="1600" dirty="0" err="1">
                <a:solidFill>
                  <a:srgbClr val="1F2A36"/>
                </a:solidFill>
                <a:latin typeface="Calibri"/>
              </a:rPr>
              <a:t>gemengde</a:t>
            </a:r>
            <a:r>
              <a:rPr sz="1600" dirty="0">
                <a:solidFill>
                  <a:srgbClr val="1F2A36"/>
                </a:solidFill>
                <a:latin typeface="Calibri"/>
              </a:rPr>
              <a:t> </a:t>
            </a:r>
            <a:r>
              <a:rPr sz="1600" dirty="0" err="1">
                <a:solidFill>
                  <a:srgbClr val="1F2A36"/>
                </a:solidFill>
                <a:latin typeface="Calibri"/>
              </a:rPr>
              <a:t>taaldata</a:t>
            </a:r>
            <a:r>
              <a:rPr sz="1600" dirty="0">
                <a:solidFill>
                  <a:srgbClr val="1F2A36"/>
                </a:solidFill>
                <a:latin typeface="Calibri"/>
              </a:rPr>
              <a:t>; NLP-filter later </a:t>
            </a:r>
            <a:r>
              <a:rPr sz="1600" dirty="0" err="1">
                <a:solidFill>
                  <a:srgbClr val="1F2A36"/>
                </a:solidFill>
                <a:latin typeface="Calibri"/>
              </a:rPr>
              <a:t>na</a:t>
            </a:r>
            <a:r>
              <a:rPr sz="1600" dirty="0">
                <a:solidFill>
                  <a:srgbClr val="1F2A36"/>
                </a:solidFill>
                <a:latin typeface="Calibri"/>
              </a:rPr>
              <a:t> Engels.</a:t>
            </a:r>
          </a:p>
          <a:p>
            <a:pPr>
              <a:spcAft>
                <a:spcPts val="1100"/>
              </a:spcAft>
            </a:pPr>
            <a:r>
              <a:rPr sz="1600" b="1" dirty="0">
                <a:solidFill>
                  <a:srgbClr val="1B2838"/>
                </a:solidFill>
                <a:latin typeface="Calibri"/>
              </a:rPr>
              <a:t>▪ </a:t>
            </a:r>
            <a:r>
              <a:rPr sz="1600" b="1" dirty="0" err="1">
                <a:solidFill>
                  <a:srgbClr val="1B2838"/>
                </a:solidFill>
                <a:latin typeface="Calibri"/>
              </a:rPr>
              <a:t>Tydstempels</a:t>
            </a:r>
            <a:r>
              <a:rPr sz="1600" b="1" dirty="0">
                <a:solidFill>
                  <a:srgbClr val="1B2838"/>
                </a:solidFill>
                <a:latin typeface="Calibri"/>
              </a:rPr>
              <a:t>: </a:t>
            </a:r>
            <a:r>
              <a:rPr sz="1600" dirty="0">
                <a:solidFill>
                  <a:srgbClr val="1F2A36"/>
                </a:solidFill>
                <a:latin typeface="Calibri"/>
              </a:rPr>
              <a:t>Unix-</a:t>
            </a:r>
            <a:r>
              <a:rPr sz="1600" dirty="0" err="1">
                <a:solidFill>
                  <a:srgbClr val="1F2A36"/>
                </a:solidFill>
                <a:latin typeface="Calibri"/>
              </a:rPr>
              <a:t>tydstempels</a:t>
            </a:r>
            <a:r>
              <a:rPr sz="1600" dirty="0">
                <a:solidFill>
                  <a:srgbClr val="1F2A36"/>
                </a:solidFill>
                <a:latin typeface="Calibri"/>
              </a:rPr>
              <a:t> — </a:t>
            </a:r>
            <a:r>
              <a:rPr sz="1600" dirty="0" err="1">
                <a:solidFill>
                  <a:srgbClr val="1F2A36"/>
                </a:solidFill>
                <a:latin typeface="Calibri"/>
              </a:rPr>
              <a:t>nie</a:t>
            </a:r>
            <a:r>
              <a:rPr sz="1600" dirty="0">
                <a:solidFill>
                  <a:srgbClr val="1F2A36"/>
                </a:solidFill>
                <a:latin typeface="Calibri"/>
              </a:rPr>
              <a:t> </a:t>
            </a:r>
            <a:r>
              <a:rPr sz="1600" dirty="0" err="1">
                <a:solidFill>
                  <a:srgbClr val="1F2A36"/>
                </a:solidFill>
                <a:latin typeface="Calibri"/>
              </a:rPr>
              <a:t>mensleesbaar</a:t>
            </a:r>
            <a:r>
              <a:rPr sz="1600" dirty="0">
                <a:solidFill>
                  <a:srgbClr val="1F2A36"/>
                </a:solidFill>
                <a:latin typeface="Calibri"/>
              </a:rPr>
              <a:t> </a:t>
            </a:r>
            <a:r>
              <a:rPr sz="1600" dirty="0" err="1">
                <a:solidFill>
                  <a:srgbClr val="1F2A36"/>
                </a:solidFill>
                <a:latin typeface="Calibri"/>
              </a:rPr>
              <a:t>nie</a:t>
            </a:r>
            <a:r>
              <a:rPr sz="1600" dirty="0">
                <a:solidFill>
                  <a:srgbClr val="1F2A36"/>
                </a:solidFill>
                <a:latin typeface="Calibri"/>
              </a:rPr>
              <a:t>; </a:t>
            </a:r>
            <a:r>
              <a:rPr sz="1600" dirty="0" err="1">
                <a:solidFill>
                  <a:srgbClr val="1F2A36"/>
                </a:solidFill>
                <a:latin typeface="Calibri"/>
              </a:rPr>
              <a:t>afgeleide</a:t>
            </a:r>
            <a:r>
              <a:rPr sz="1600" dirty="0">
                <a:solidFill>
                  <a:srgbClr val="1F2A36"/>
                </a:solidFill>
                <a:latin typeface="Calibri"/>
              </a:rPr>
              <a:t> datums </a:t>
            </a:r>
            <a:r>
              <a:rPr sz="1600" dirty="0" err="1">
                <a:solidFill>
                  <a:srgbClr val="1F2A36"/>
                </a:solidFill>
                <a:latin typeface="Calibri"/>
              </a:rPr>
              <a:t>nodig</a:t>
            </a:r>
            <a:r>
              <a:rPr sz="1600" dirty="0">
                <a:solidFill>
                  <a:srgbClr val="1F2A36"/>
                </a:solidFill>
                <a:latin typeface="Calibri"/>
              </a:rPr>
              <a:t>.</a:t>
            </a:r>
          </a:p>
        </p:txBody>
      </p:sp>
      <p:sp>
        <p:nvSpPr>
          <p:cNvPr id="7" name="Rectangle 6"/>
          <p:cNvSpPr/>
          <p:nvPr/>
        </p:nvSpPr>
        <p:spPr>
          <a:xfrm>
            <a:off x="6675120" y="1280160"/>
            <a:ext cx="4937760" cy="4480560"/>
          </a:xfrm>
          <a:prstGeom prst="rect">
            <a:avLst/>
          </a:prstGeom>
          <a:solidFill>
            <a:srgbClr val="F2F6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6903720" y="1463040"/>
            <a:ext cx="448056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600" b="1" i="0">
                <a:solidFill>
                  <a:srgbClr val="1B2838"/>
                </a:solidFill>
                <a:latin typeface="Calibri"/>
              </a:rPr>
              <a:t>Voorbeelde uit die rou data</a:t>
            </a:r>
          </a:p>
        </p:txBody>
      </p:sp>
      <p:sp>
        <p:nvSpPr>
          <p:cNvPr id="9" name="Rectangle 8"/>
          <p:cNvSpPr/>
          <p:nvPr/>
        </p:nvSpPr>
        <p:spPr>
          <a:xfrm>
            <a:off x="6903720" y="2011680"/>
            <a:ext cx="4480560" cy="64008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7086600" y="2121408"/>
            <a:ext cx="41148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1" i="0">
                <a:solidFill>
                  <a:srgbClr val="1B2838"/>
                </a:solidFill>
                <a:latin typeface="Calibri"/>
              </a:rPr>
              <a:t>“gg”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086600" y="2359152"/>
            <a:ext cx="41148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0" i="1">
                <a:solidFill>
                  <a:srgbClr val="6E7A89"/>
                </a:solidFill>
                <a:latin typeface="Calibri"/>
              </a:rPr>
              <a:t>2 karakters — te kort vir enige insig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903720" y="2788920"/>
            <a:ext cx="4480560" cy="64008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7086600" y="2898648"/>
            <a:ext cx="41148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1" i="0">
                <a:solidFill>
                  <a:srgbClr val="1B2838"/>
                </a:solidFill>
                <a:latin typeface="Calibri"/>
              </a:rPr>
              <a:t>“🔥🔥🔥🔥🔥”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086600" y="3136392"/>
            <a:ext cx="41148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0" i="1">
                <a:solidFill>
                  <a:srgbClr val="6E7A89"/>
                </a:solidFill>
                <a:latin typeface="Calibri"/>
              </a:rPr>
              <a:t>100% emoji — geen betekenis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903720" y="3566160"/>
            <a:ext cx="4480560" cy="64008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TextBox 15"/>
          <p:cNvSpPr txBox="1"/>
          <p:nvPr/>
        </p:nvSpPr>
        <p:spPr>
          <a:xfrm>
            <a:off x="7086600" y="3675888"/>
            <a:ext cx="41148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1" i="0">
                <a:solidFill>
                  <a:srgbClr val="1B2838"/>
                </a:solidFill>
                <a:latin typeface="Calibri"/>
              </a:rPr>
              <a:t>“asdkjh123!!!”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086600" y="3913632"/>
            <a:ext cx="41148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0" i="1">
                <a:solidFill>
                  <a:srgbClr val="6E7A89"/>
                </a:solidFill>
                <a:latin typeface="Calibri"/>
              </a:rPr>
              <a:t>onsamehangende karakters</a:t>
            </a:r>
          </a:p>
        </p:txBody>
      </p:sp>
      <p:sp>
        <p:nvSpPr>
          <p:cNvPr id="18" name="Rectangle 17"/>
          <p:cNvSpPr/>
          <p:nvPr/>
        </p:nvSpPr>
        <p:spPr>
          <a:xfrm>
            <a:off x="6903720" y="4343400"/>
            <a:ext cx="4480560" cy="64008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TextBox 18"/>
          <p:cNvSpPr txBox="1"/>
          <p:nvPr/>
        </p:nvSpPr>
        <p:spPr>
          <a:xfrm>
            <a:off x="7086600" y="4453128"/>
            <a:ext cx="41148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1" i="0">
                <a:solidFill>
                  <a:srgbClr val="1B2838"/>
                </a:solidFill>
                <a:latin typeface="Calibri"/>
              </a:rPr>
              <a:t>“Great game!!”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086600" y="4690872"/>
            <a:ext cx="41148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0" i="1">
                <a:solidFill>
                  <a:srgbClr val="6E7A89"/>
                </a:solidFill>
                <a:latin typeface="Calibri"/>
              </a:rPr>
              <a:t>geldig — bly behou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914400"/>
          </a:xfrm>
          <a:prstGeom prst="rect">
            <a:avLst/>
          </a:prstGeom>
          <a:solidFill>
            <a:srgbClr val="1B28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914400"/>
            <a:ext cx="12191695" cy="38100"/>
          </a:xfrm>
          <a:prstGeom prst="rect">
            <a:avLst/>
          </a:prstGeom>
          <a:solidFill>
            <a:srgbClr val="66C0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502920" y="164592"/>
            <a:ext cx="10515600" cy="5943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2600" b="1" i="0">
                <a:solidFill>
                  <a:srgbClr val="FFFFFF"/>
                </a:solidFill>
                <a:latin typeface="Calibri"/>
              </a:rPr>
              <a:t>Skoonmaak &amp; Voorbereiding (src/clean.py)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292840" y="182880"/>
            <a:ext cx="73152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800" b="1" i="0">
                <a:solidFill>
                  <a:srgbClr val="66C0F4"/>
                </a:solidFill>
                <a:latin typeface="Calibri"/>
              </a:rPr>
              <a:t>08</a:t>
            </a:r>
          </a:p>
        </p:txBody>
      </p:sp>
      <p:sp>
        <p:nvSpPr>
          <p:cNvPr id="6" name="Rectangle 5"/>
          <p:cNvSpPr/>
          <p:nvPr/>
        </p:nvSpPr>
        <p:spPr>
          <a:xfrm>
            <a:off x="640080" y="1234440"/>
            <a:ext cx="2286000" cy="566928"/>
          </a:xfrm>
          <a:prstGeom prst="rect">
            <a:avLst/>
          </a:prstGeom>
          <a:solidFill>
            <a:srgbClr val="2A47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777240" y="1285240"/>
            <a:ext cx="2103120" cy="4572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300" b="1" i="0">
                <a:solidFill>
                  <a:srgbClr val="FFFFFF"/>
                </a:solidFill>
                <a:latin typeface="Calibri"/>
              </a:rPr>
              <a:t>Deduplikasie</a:t>
            </a:r>
          </a:p>
        </p:txBody>
      </p:sp>
      <p:sp>
        <p:nvSpPr>
          <p:cNvPr id="8" name="Rectangle 7"/>
          <p:cNvSpPr/>
          <p:nvPr/>
        </p:nvSpPr>
        <p:spPr>
          <a:xfrm>
            <a:off x="2926080" y="1234440"/>
            <a:ext cx="4297680" cy="566928"/>
          </a:xfrm>
          <a:prstGeom prst="rect">
            <a:avLst/>
          </a:prstGeom>
          <a:solidFill>
            <a:srgbClr val="F2F6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3063240" y="1285240"/>
            <a:ext cx="4023360" cy="4572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200" b="0" i="0">
                <a:solidFill>
                  <a:srgbClr val="1F2A36"/>
                </a:solidFill>
                <a:latin typeface="Calibri"/>
              </a:rPr>
              <a:t>Duplikaat review_id verwyder</a:t>
            </a:r>
          </a:p>
        </p:txBody>
      </p:sp>
      <p:sp>
        <p:nvSpPr>
          <p:cNvPr id="10" name="Rectangle 9"/>
          <p:cNvSpPr/>
          <p:nvPr/>
        </p:nvSpPr>
        <p:spPr>
          <a:xfrm>
            <a:off x="7223760" y="1234440"/>
            <a:ext cx="4343400" cy="566928"/>
          </a:xfrm>
          <a:prstGeom prst="rect">
            <a:avLst/>
          </a:prstGeom>
          <a:solidFill>
            <a:srgbClr val="E7F3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7360920" y="1285240"/>
            <a:ext cx="4114800" cy="4572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200" b="0" i="0">
                <a:solidFill>
                  <a:srgbClr val="3A5A10"/>
                </a:solidFill>
                <a:latin typeface="Calibri"/>
              </a:rPr>
              <a:t>Waarom: Sekerheid teen dubbeltelling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40080" y="1856232"/>
            <a:ext cx="2286000" cy="566928"/>
          </a:xfrm>
          <a:prstGeom prst="rect">
            <a:avLst/>
          </a:prstGeom>
          <a:solidFill>
            <a:srgbClr val="2A47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777240" y="1907032"/>
            <a:ext cx="2103120" cy="4572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300" b="1" i="0">
                <a:solidFill>
                  <a:srgbClr val="FFFFFF"/>
                </a:solidFill>
                <a:latin typeface="Calibri"/>
              </a:rPr>
              <a:t>Leë teks</a:t>
            </a:r>
          </a:p>
        </p:txBody>
      </p:sp>
      <p:sp>
        <p:nvSpPr>
          <p:cNvPr id="14" name="Rectangle 13"/>
          <p:cNvSpPr/>
          <p:nvPr/>
        </p:nvSpPr>
        <p:spPr>
          <a:xfrm>
            <a:off x="2926080" y="1856232"/>
            <a:ext cx="4297680" cy="566928"/>
          </a:xfrm>
          <a:prstGeom prst="rect">
            <a:avLst/>
          </a:prstGeom>
          <a:solidFill>
            <a:srgbClr val="F2F6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TextBox 14"/>
          <p:cNvSpPr txBox="1"/>
          <p:nvPr/>
        </p:nvSpPr>
        <p:spPr>
          <a:xfrm>
            <a:off x="3063240" y="1907032"/>
            <a:ext cx="4023360" cy="4572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200" b="0" i="0">
                <a:solidFill>
                  <a:srgbClr val="1F2A36"/>
                </a:solidFill>
                <a:latin typeface="Calibri"/>
              </a:rPr>
              <a:t>NaN/leë review_text weggegooi</a:t>
            </a:r>
          </a:p>
        </p:txBody>
      </p:sp>
      <p:sp>
        <p:nvSpPr>
          <p:cNvPr id="16" name="Rectangle 15"/>
          <p:cNvSpPr/>
          <p:nvPr/>
        </p:nvSpPr>
        <p:spPr>
          <a:xfrm>
            <a:off x="7223760" y="1856232"/>
            <a:ext cx="4343400" cy="566928"/>
          </a:xfrm>
          <a:prstGeom prst="rect">
            <a:avLst/>
          </a:prstGeom>
          <a:solidFill>
            <a:srgbClr val="E7F3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TextBox 16"/>
          <p:cNvSpPr txBox="1"/>
          <p:nvPr/>
        </p:nvSpPr>
        <p:spPr>
          <a:xfrm>
            <a:off x="7360920" y="1907032"/>
            <a:ext cx="4114800" cy="4572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200" b="0" i="0">
                <a:solidFill>
                  <a:srgbClr val="3A5A10"/>
                </a:solidFill>
                <a:latin typeface="Calibri"/>
              </a:rPr>
              <a:t>Waarom: Geen teks = geen inligting</a:t>
            </a:r>
          </a:p>
        </p:txBody>
      </p:sp>
      <p:sp>
        <p:nvSpPr>
          <p:cNvPr id="18" name="Rectangle 17"/>
          <p:cNvSpPr/>
          <p:nvPr/>
        </p:nvSpPr>
        <p:spPr>
          <a:xfrm>
            <a:off x="640080" y="2478024"/>
            <a:ext cx="2286000" cy="566928"/>
          </a:xfrm>
          <a:prstGeom prst="rect">
            <a:avLst/>
          </a:prstGeom>
          <a:solidFill>
            <a:srgbClr val="2A47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TextBox 18"/>
          <p:cNvSpPr txBox="1"/>
          <p:nvPr/>
        </p:nvSpPr>
        <p:spPr>
          <a:xfrm>
            <a:off x="777240" y="2528824"/>
            <a:ext cx="2103120" cy="4572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300" b="1" i="0">
                <a:solidFill>
                  <a:srgbClr val="FFFFFF"/>
                </a:solidFill>
                <a:latin typeface="Calibri"/>
              </a:rPr>
              <a:t>Minimum lengte</a:t>
            </a:r>
          </a:p>
        </p:txBody>
      </p:sp>
      <p:sp>
        <p:nvSpPr>
          <p:cNvPr id="20" name="Rectangle 19"/>
          <p:cNvSpPr/>
          <p:nvPr/>
        </p:nvSpPr>
        <p:spPr>
          <a:xfrm>
            <a:off x="2926080" y="2478024"/>
            <a:ext cx="4297680" cy="566928"/>
          </a:xfrm>
          <a:prstGeom prst="rect">
            <a:avLst/>
          </a:prstGeom>
          <a:solidFill>
            <a:srgbClr val="F2F6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1" name="TextBox 20"/>
          <p:cNvSpPr txBox="1"/>
          <p:nvPr/>
        </p:nvSpPr>
        <p:spPr>
          <a:xfrm>
            <a:off x="3063240" y="2528824"/>
            <a:ext cx="4023360" cy="4572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200" b="0" i="0">
                <a:solidFill>
                  <a:srgbClr val="1F2A36"/>
                </a:solidFill>
                <a:latin typeface="Calibri"/>
              </a:rPr>
              <a:t>&lt; 10 karakters verwyder</a:t>
            </a:r>
          </a:p>
        </p:txBody>
      </p:sp>
      <p:sp>
        <p:nvSpPr>
          <p:cNvPr id="22" name="Rectangle 21"/>
          <p:cNvSpPr/>
          <p:nvPr/>
        </p:nvSpPr>
        <p:spPr>
          <a:xfrm>
            <a:off x="7223760" y="2478024"/>
            <a:ext cx="4343400" cy="566928"/>
          </a:xfrm>
          <a:prstGeom prst="rect">
            <a:avLst/>
          </a:prstGeom>
          <a:solidFill>
            <a:srgbClr val="E7F3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3" name="TextBox 22"/>
          <p:cNvSpPr txBox="1"/>
          <p:nvPr/>
        </p:nvSpPr>
        <p:spPr>
          <a:xfrm>
            <a:off x="7360920" y="2528824"/>
            <a:ext cx="4114800" cy="4572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200" b="0" i="0">
                <a:solidFill>
                  <a:srgbClr val="3A5A10"/>
                </a:solidFill>
                <a:latin typeface="Calibri"/>
              </a:rPr>
              <a:t>Waarom: Spam soos “gg” weg</a:t>
            </a:r>
          </a:p>
        </p:txBody>
      </p:sp>
      <p:sp>
        <p:nvSpPr>
          <p:cNvPr id="24" name="Rectangle 23"/>
          <p:cNvSpPr/>
          <p:nvPr/>
        </p:nvSpPr>
        <p:spPr>
          <a:xfrm>
            <a:off x="640080" y="3099816"/>
            <a:ext cx="2286000" cy="566928"/>
          </a:xfrm>
          <a:prstGeom prst="rect">
            <a:avLst/>
          </a:prstGeom>
          <a:solidFill>
            <a:srgbClr val="2A47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5" name="TextBox 24"/>
          <p:cNvSpPr txBox="1"/>
          <p:nvPr/>
        </p:nvSpPr>
        <p:spPr>
          <a:xfrm>
            <a:off x="777240" y="3150616"/>
            <a:ext cx="2103120" cy="4572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300" b="1" i="0">
                <a:solidFill>
                  <a:srgbClr val="FFFFFF"/>
                </a:solidFill>
                <a:latin typeface="Calibri"/>
              </a:rPr>
              <a:t>Karakter-ratio</a:t>
            </a:r>
          </a:p>
        </p:txBody>
      </p:sp>
      <p:sp>
        <p:nvSpPr>
          <p:cNvPr id="26" name="Rectangle 25"/>
          <p:cNvSpPr/>
          <p:nvPr/>
        </p:nvSpPr>
        <p:spPr>
          <a:xfrm>
            <a:off x="2926080" y="3099816"/>
            <a:ext cx="4297680" cy="566928"/>
          </a:xfrm>
          <a:prstGeom prst="rect">
            <a:avLst/>
          </a:prstGeom>
          <a:solidFill>
            <a:srgbClr val="F2F6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7" name="TextBox 26"/>
          <p:cNvSpPr txBox="1"/>
          <p:nvPr/>
        </p:nvSpPr>
        <p:spPr>
          <a:xfrm>
            <a:off x="3063240" y="3150616"/>
            <a:ext cx="4023360" cy="4572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200" b="0" i="0">
                <a:solidFill>
                  <a:srgbClr val="1F2A36"/>
                </a:solidFill>
                <a:latin typeface="Calibri"/>
              </a:rPr>
              <a:t>&gt;50% alfabeties/spasies vereis</a:t>
            </a:r>
          </a:p>
        </p:txBody>
      </p:sp>
      <p:sp>
        <p:nvSpPr>
          <p:cNvPr id="28" name="Rectangle 27"/>
          <p:cNvSpPr/>
          <p:nvPr/>
        </p:nvSpPr>
        <p:spPr>
          <a:xfrm>
            <a:off x="7223760" y="3099816"/>
            <a:ext cx="4343400" cy="566928"/>
          </a:xfrm>
          <a:prstGeom prst="rect">
            <a:avLst/>
          </a:prstGeom>
          <a:solidFill>
            <a:srgbClr val="E7F3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9" name="TextBox 28"/>
          <p:cNvSpPr txBox="1"/>
          <p:nvPr/>
        </p:nvSpPr>
        <p:spPr>
          <a:xfrm>
            <a:off x="7360920" y="3150616"/>
            <a:ext cx="4114800" cy="4572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200" b="0" i="0">
                <a:solidFill>
                  <a:srgbClr val="3A5A10"/>
                </a:solidFill>
                <a:latin typeface="Calibri"/>
              </a:rPr>
              <a:t>Waarom: Emoji- en nonsens-spam weg</a:t>
            </a:r>
          </a:p>
        </p:txBody>
      </p:sp>
      <p:sp>
        <p:nvSpPr>
          <p:cNvPr id="30" name="Rectangle 29"/>
          <p:cNvSpPr/>
          <p:nvPr/>
        </p:nvSpPr>
        <p:spPr>
          <a:xfrm>
            <a:off x="640080" y="3721608"/>
            <a:ext cx="2286000" cy="566928"/>
          </a:xfrm>
          <a:prstGeom prst="rect">
            <a:avLst/>
          </a:prstGeom>
          <a:solidFill>
            <a:srgbClr val="2A47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1" name="TextBox 30"/>
          <p:cNvSpPr txBox="1"/>
          <p:nvPr/>
        </p:nvSpPr>
        <p:spPr>
          <a:xfrm>
            <a:off x="777240" y="3772408"/>
            <a:ext cx="2103120" cy="4572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300" b="1" i="0">
                <a:solidFill>
                  <a:srgbClr val="FFFFFF"/>
                </a:solidFill>
                <a:latin typeface="Calibri"/>
              </a:rPr>
              <a:t>Tydstempel</a:t>
            </a:r>
          </a:p>
        </p:txBody>
      </p:sp>
      <p:sp>
        <p:nvSpPr>
          <p:cNvPr id="32" name="Rectangle 31"/>
          <p:cNvSpPr/>
          <p:nvPr/>
        </p:nvSpPr>
        <p:spPr>
          <a:xfrm>
            <a:off x="2926080" y="3721608"/>
            <a:ext cx="4297680" cy="566928"/>
          </a:xfrm>
          <a:prstGeom prst="rect">
            <a:avLst/>
          </a:prstGeom>
          <a:solidFill>
            <a:srgbClr val="F2F6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3" name="TextBox 32"/>
          <p:cNvSpPr txBox="1"/>
          <p:nvPr/>
        </p:nvSpPr>
        <p:spPr>
          <a:xfrm>
            <a:off x="3063240" y="3772408"/>
            <a:ext cx="4023360" cy="4572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200" b="0" i="0">
                <a:solidFill>
                  <a:srgbClr val="1F2A36"/>
                </a:solidFill>
                <a:latin typeface="Calibri"/>
              </a:rPr>
              <a:t>Numeries → review_date, -year, -month, -dag</a:t>
            </a:r>
          </a:p>
        </p:txBody>
      </p:sp>
      <p:sp>
        <p:nvSpPr>
          <p:cNvPr id="34" name="Rectangle 33"/>
          <p:cNvSpPr/>
          <p:nvPr/>
        </p:nvSpPr>
        <p:spPr>
          <a:xfrm>
            <a:off x="7223760" y="3721608"/>
            <a:ext cx="4343400" cy="566928"/>
          </a:xfrm>
          <a:prstGeom prst="rect">
            <a:avLst/>
          </a:prstGeom>
          <a:solidFill>
            <a:srgbClr val="E7F3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5" name="TextBox 34"/>
          <p:cNvSpPr txBox="1"/>
          <p:nvPr/>
        </p:nvSpPr>
        <p:spPr>
          <a:xfrm>
            <a:off x="7360920" y="3772408"/>
            <a:ext cx="4114800" cy="4572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200" b="0" i="0">
                <a:solidFill>
                  <a:srgbClr val="3A5A10"/>
                </a:solidFill>
                <a:latin typeface="Calibri"/>
              </a:rPr>
              <a:t>Waarom: Datums vir konteks en Fase 3</a:t>
            </a:r>
          </a:p>
        </p:txBody>
      </p:sp>
      <p:sp>
        <p:nvSpPr>
          <p:cNvPr id="36" name="Rectangle 35"/>
          <p:cNvSpPr/>
          <p:nvPr/>
        </p:nvSpPr>
        <p:spPr>
          <a:xfrm>
            <a:off x="640080" y="4343400"/>
            <a:ext cx="2286000" cy="566928"/>
          </a:xfrm>
          <a:prstGeom prst="rect">
            <a:avLst/>
          </a:prstGeom>
          <a:solidFill>
            <a:srgbClr val="2A47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7" name="TextBox 36"/>
          <p:cNvSpPr txBox="1"/>
          <p:nvPr/>
        </p:nvSpPr>
        <p:spPr>
          <a:xfrm>
            <a:off x="777240" y="4394200"/>
            <a:ext cx="2103120" cy="4572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300" b="1" i="0">
                <a:solidFill>
                  <a:srgbClr val="FFFFFF"/>
                </a:solidFill>
                <a:latin typeface="Calibri"/>
              </a:rPr>
              <a:t>Speeltyd</a:t>
            </a:r>
          </a:p>
        </p:txBody>
      </p:sp>
      <p:sp>
        <p:nvSpPr>
          <p:cNvPr id="38" name="Rectangle 37"/>
          <p:cNvSpPr/>
          <p:nvPr/>
        </p:nvSpPr>
        <p:spPr>
          <a:xfrm>
            <a:off x="2926080" y="4343400"/>
            <a:ext cx="4297680" cy="566928"/>
          </a:xfrm>
          <a:prstGeom prst="rect">
            <a:avLst/>
          </a:prstGeom>
          <a:solidFill>
            <a:srgbClr val="F2F6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9" name="TextBox 38"/>
          <p:cNvSpPr txBox="1"/>
          <p:nvPr/>
        </p:nvSpPr>
        <p:spPr>
          <a:xfrm>
            <a:off x="3063240" y="4394200"/>
            <a:ext cx="4023360" cy="4572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200" b="0" i="0">
                <a:solidFill>
                  <a:srgbClr val="1F2A36"/>
                </a:solidFill>
                <a:latin typeface="Calibri"/>
              </a:rPr>
              <a:t>Uitskieters afgekap by 99ste persentiel</a:t>
            </a:r>
          </a:p>
        </p:txBody>
      </p:sp>
      <p:sp>
        <p:nvSpPr>
          <p:cNvPr id="40" name="Rectangle 39"/>
          <p:cNvSpPr/>
          <p:nvPr/>
        </p:nvSpPr>
        <p:spPr>
          <a:xfrm>
            <a:off x="7223760" y="4343400"/>
            <a:ext cx="4343400" cy="566928"/>
          </a:xfrm>
          <a:prstGeom prst="rect">
            <a:avLst/>
          </a:prstGeom>
          <a:solidFill>
            <a:srgbClr val="E7F3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1" name="TextBox 40"/>
          <p:cNvSpPr txBox="1"/>
          <p:nvPr/>
        </p:nvSpPr>
        <p:spPr>
          <a:xfrm>
            <a:off x="7360920" y="4394200"/>
            <a:ext cx="4114800" cy="4572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200" b="0" i="0">
                <a:solidFill>
                  <a:srgbClr val="3A5A10"/>
                </a:solidFill>
                <a:latin typeface="Calibri"/>
              </a:rPr>
              <a:t>Waarom: Behou data, neutraliseer ekstreme</a:t>
            </a:r>
          </a:p>
        </p:txBody>
      </p:sp>
      <p:sp>
        <p:nvSpPr>
          <p:cNvPr id="42" name="Rectangle 41"/>
          <p:cNvSpPr/>
          <p:nvPr/>
        </p:nvSpPr>
        <p:spPr>
          <a:xfrm>
            <a:off x="640080" y="4965192"/>
            <a:ext cx="2286000" cy="566928"/>
          </a:xfrm>
          <a:prstGeom prst="rect">
            <a:avLst/>
          </a:prstGeom>
          <a:solidFill>
            <a:srgbClr val="2A47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3" name="TextBox 42"/>
          <p:cNvSpPr txBox="1"/>
          <p:nvPr/>
        </p:nvSpPr>
        <p:spPr>
          <a:xfrm>
            <a:off x="777240" y="5015992"/>
            <a:ext cx="2103120" cy="4572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300" b="1" i="0">
                <a:solidFill>
                  <a:srgbClr val="FFFFFF"/>
                </a:solidFill>
                <a:latin typeface="Calibri"/>
              </a:rPr>
              <a:t>Tipes</a:t>
            </a:r>
          </a:p>
        </p:txBody>
      </p:sp>
      <p:sp>
        <p:nvSpPr>
          <p:cNvPr id="44" name="Rectangle 43"/>
          <p:cNvSpPr/>
          <p:nvPr/>
        </p:nvSpPr>
        <p:spPr>
          <a:xfrm>
            <a:off x="2926080" y="4965192"/>
            <a:ext cx="4297680" cy="566928"/>
          </a:xfrm>
          <a:prstGeom prst="rect">
            <a:avLst/>
          </a:prstGeom>
          <a:solidFill>
            <a:srgbClr val="F2F6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5" name="TextBox 44"/>
          <p:cNvSpPr txBox="1"/>
          <p:nvPr/>
        </p:nvSpPr>
        <p:spPr>
          <a:xfrm>
            <a:off x="3063240" y="5015992"/>
            <a:ext cx="4023360" cy="4572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200" b="0" i="0">
                <a:solidFill>
                  <a:srgbClr val="1F2A36"/>
                </a:solidFill>
                <a:latin typeface="Calibri"/>
              </a:rPr>
              <a:t>voted_up, steam_purchase, early_access → bool</a:t>
            </a:r>
          </a:p>
        </p:txBody>
      </p:sp>
      <p:sp>
        <p:nvSpPr>
          <p:cNvPr id="46" name="Rectangle 45"/>
          <p:cNvSpPr/>
          <p:nvPr/>
        </p:nvSpPr>
        <p:spPr>
          <a:xfrm>
            <a:off x="7223760" y="4965192"/>
            <a:ext cx="4343400" cy="566928"/>
          </a:xfrm>
          <a:prstGeom prst="rect">
            <a:avLst/>
          </a:prstGeom>
          <a:solidFill>
            <a:srgbClr val="E7F3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7" name="TextBox 46"/>
          <p:cNvSpPr txBox="1"/>
          <p:nvPr/>
        </p:nvSpPr>
        <p:spPr>
          <a:xfrm>
            <a:off x="7360920" y="5015992"/>
            <a:ext cx="4114800" cy="4572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200" b="0" i="0">
                <a:solidFill>
                  <a:srgbClr val="3A5A10"/>
                </a:solidFill>
                <a:latin typeface="Calibri"/>
              </a:rPr>
              <a:t>Waarom: Korrekte datatipes vir analise</a:t>
            </a:r>
          </a:p>
        </p:txBody>
      </p:sp>
      <p:sp>
        <p:nvSpPr>
          <p:cNvPr id="48" name="Rectangle 47"/>
          <p:cNvSpPr/>
          <p:nvPr/>
        </p:nvSpPr>
        <p:spPr>
          <a:xfrm>
            <a:off x="640080" y="5586984"/>
            <a:ext cx="2286000" cy="566928"/>
          </a:xfrm>
          <a:prstGeom prst="rect">
            <a:avLst/>
          </a:prstGeom>
          <a:solidFill>
            <a:srgbClr val="2A47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9" name="TextBox 48"/>
          <p:cNvSpPr txBox="1"/>
          <p:nvPr/>
        </p:nvSpPr>
        <p:spPr>
          <a:xfrm>
            <a:off x="777240" y="5637784"/>
            <a:ext cx="2103120" cy="4572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300" b="1" i="0">
                <a:solidFill>
                  <a:srgbClr val="FFFFFF"/>
                </a:solidFill>
                <a:latin typeface="Calibri"/>
              </a:rPr>
              <a:t>Kenmerke</a:t>
            </a:r>
          </a:p>
        </p:txBody>
      </p:sp>
      <p:sp>
        <p:nvSpPr>
          <p:cNvPr id="50" name="Rectangle 49"/>
          <p:cNvSpPr/>
          <p:nvPr/>
        </p:nvSpPr>
        <p:spPr>
          <a:xfrm>
            <a:off x="2926080" y="5586984"/>
            <a:ext cx="4297680" cy="566928"/>
          </a:xfrm>
          <a:prstGeom prst="rect">
            <a:avLst/>
          </a:prstGeom>
          <a:solidFill>
            <a:srgbClr val="F2F6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1" name="TextBox 50"/>
          <p:cNvSpPr txBox="1"/>
          <p:nvPr/>
        </p:nvSpPr>
        <p:spPr>
          <a:xfrm>
            <a:off x="3063240" y="5637784"/>
            <a:ext cx="4023360" cy="4572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200" b="0" i="0">
                <a:solidFill>
                  <a:srgbClr val="1F2A36"/>
                </a:solidFill>
                <a:latin typeface="Calibri"/>
              </a:rPr>
              <a:t>word_count, review_length, genre-one-hot (9)</a:t>
            </a:r>
          </a:p>
        </p:txBody>
      </p:sp>
      <p:sp>
        <p:nvSpPr>
          <p:cNvPr id="52" name="Rectangle 51"/>
          <p:cNvSpPr/>
          <p:nvPr/>
        </p:nvSpPr>
        <p:spPr>
          <a:xfrm>
            <a:off x="7223760" y="5586984"/>
            <a:ext cx="4343400" cy="566928"/>
          </a:xfrm>
          <a:prstGeom prst="rect">
            <a:avLst/>
          </a:prstGeom>
          <a:solidFill>
            <a:srgbClr val="E7F3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3" name="TextBox 52"/>
          <p:cNvSpPr txBox="1"/>
          <p:nvPr/>
        </p:nvSpPr>
        <p:spPr>
          <a:xfrm>
            <a:off x="7360920" y="5637784"/>
            <a:ext cx="4114800" cy="4572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200" b="0" i="0">
                <a:solidFill>
                  <a:srgbClr val="3A5A10"/>
                </a:solidFill>
                <a:latin typeface="Calibri"/>
              </a:rPr>
              <a:t>Waarom: Genre-vlak analise moontlik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914400"/>
          </a:xfrm>
          <a:prstGeom prst="rect">
            <a:avLst/>
          </a:prstGeom>
          <a:solidFill>
            <a:srgbClr val="1B28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914400"/>
            <a:ext cx="12191695" cy="38100"/>
          </a:xfrm>
          <a:prstGeom prst="rect">
            <a:avLst/>
          </a:prstGeom>
          <a:solidFill>
            <a:srgbClr val="66C0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502920" y="164592"/>
            <a:ext cx="10515600" cy="5943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2600" b="1" i="0">
                <a:solidFill>
                  <a:srgbClr val="FFFFFF"/>
                </a:solidFill>
                <a:latin typeface="Calibri"/>
              </a:rPr>
              <a:t>Skoonmaak-pyplyn in Getalle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292840" y="182880"/>
            <a:ext cx="73152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800" b="1" i="0">
                <a:solidFill>
                  <a:srgbClr val="66C0F4"/>
                </a:solidFill>
                <a:latin typeface="Calibri"/>
              </a:rPr>
              <a:t>09</a:t>
            </a:r>
          </a:p>
        </p:txBody>
      </p:sp>
      <p:pic>
        <p:nvPicPr>
          <p:cNvPr id="6" name="Picture 5" descr="fig3_funnel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31520" y="1280160"/>
            <a:ext cx="6949440" cy="3706368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7955279" y="1463040"/>
            <a:ext cx="384048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</a:pPr>
            <a:r>
              <a:rPr sz="1500" b="1" dirty="0">
                <a:solidFill>
                  <a:srgbClr val="1B2838"/>
                </a:solidFill>
                <a:latin typeface="Calibri"/>
              </a:rPr>
              <a:t>▪ 161 630 → 159 768: </a:t>
            </a:r>
            <a:r>
              <a:rPr sz="1500" dirty="0">
                <a:solidFill>
                  <a:srgbClr val="1F2A36"/>
                </a:solidFill>
                <a:latin typeface="Calibri"/>
              </a:rPr>
              <a:t>1 862 </a:t>
            </a:r>
            <a:r>
              <a:rPr sz="1500" dirty="0" err="1">
                <a:solidFill>
                  <a:srgbClr val="1F2A36"/>
                </a:solidFill>
                <a:latin typeface="Calibri"/>
              </a:rPr>
              <a:t>resensies</a:t>
            </a:r>
            <a:r>
              <a:rPr sz="1500" dirty="0">
                <a:solidFill>
                  <a:srgbClr val="1F2A36"/>
                </a:solidFill>
                <a:latin typeface="Calibri"/>
              </a:rPr>
              <a:t> </a:t>
            </a:r>
            <a:r>
              <a:rPr sz="1500" dirty="0" err="1">
                <a:solidFill>
                  <a:srgbClr val="1F2A36"/>
                </a:solidFill>
                <a:latin typeface="Calibri"/>
              </a:rPr>
              <a:t>verwyder</a:t>
            </a:r>
            <a:r>
              <a:rPr sz="1500" dirty="0">
                <a:solidFill>
                  <a:srgbClr val="1F2A36"/>
                </a:solidFill>
                <a:latin typeface="Calibri"/>
              </a:rPr>
              <a:t> (1.2%).</a:t>
            </a:r>
          </a:p>
          <a:p>
            <a:pPr>
              <a:spcAft>
                <a:spcPts val="1200"/>
              </a:spcAft>
            </a:pPr>
            <a:r>
              <a:rPr sz="1500" b="1" dirty="0">
                <a:solidFill>
                  <a:srgbClr val="1B2838"/>
                </a:solidFill>
                <a:latin typeface="Calibri"/>
              </a:rPr>
              <a:t>▪ Nie </a:t>
            </a:r>
            <a:r>
              <a:rPr sz="1500" b="1" dirty="0" err="1">
                <a:solidFill>
                  <a:srgbClr val="1B2838"/>
                </a:solidFill>
                <a:latin typeface="Calibri"/>
              </a:rPr>
              <a:t>verwyder</a:t>
            </a:r>
            <a:r>
              <a:rPr sz="1500" b="1" dirty="0">
                <a:solidFill>
                  <a:srgbClr val="1B2838"/>
                </a:solidFill>
                <a:latin typeface="Calibri"/>
              </a:rPr>
              <a:t> </a:t>
            </a:r>
            <a:r>
              <a:rPr sz="1500" b="1" dirty="0" err="1">
                <a:solidFill>
                  <a:srgbClr val="1B2838"/>
                </a:solidFill>
                <a:latin typeface="Calibri"/>
              </a:rPr>
              <a:t>nie</a:t>
            </a:r>
            <a:r>
              <a:rPr sz="1500" b="1" dirty="0">
                <a:solidFill>
                  <a:srgbClr val="1B2838"/>
                </a:solidFill>
                <a:latin typeface="Calibri"/>
              </a:rPr>
              <a:t>: </a:t>
            </a:r>
            <a:r>
              <a:rPr sz="1500" dirty="0" err="1">
                <a:solidFill>
                  <a:srgbClr val="1F2A36"/>
                </a:solidFill>
                <a:latin typeface="Calibri"/>
              </a:rPr>
              <a:t>uitskieters</a:t>
            </a:r>
            <a:r>
              <a:rPr sz="1500" dirty="0">
                <a:solidFill>
                  <a:srgbClr val="1F2A36"/>
                </a:solidFill>
                <a:latin typeface="Calibri"/>
              </a:rPr>
              <a:t> word </a:t>
            </a:r>
            <a:r>
              <a:rPr sz="1500" dirty="0" err="1">
                <a:solidFill>
                  <a:srgbClr val="1F2A36"/>
                </a:solidFill>
                <a:latin typeface="Calibri"/>
              </a:rPr>
              <a:t>afgekap</a:t>
            </a:r>
            <a:r>
              <a:rPr sz="1500" dirty="0">
                <a:solidFill>
                  <a:srgbClr val="1F2A36"/>
                </a:solidFill>
                <a:latin typeface="Calibri"/>
              </a:rPr>
              <a:t>, </a:t>
            </a:r>
            <a:r>
              <a:rPr sz="1500" dirty="0" err="1">
                <a:solidFill>
                  <a:srgbClr val="1F2A36"/>
                </a:solidFill>
                <a:latin typeface="Calibri"/>
              </a:rPr>
              <a:t>nie</a:t>
            </a:r>
            <a:r>
              <a:rPr sz="1500" dirty="0">
                <a:solidFill>
                  <a:srgbClr val="1F2A36"/>
                </a:solidFill>
                <a:latin typeface="Calibri"/>
              </a:rPr>
              <a:t> </a:t>
            </a:r>
            <a:r>
              <a:rPr sz="1500" dirty="0" err="1">
                <a:solidFill>
                  <a:srgbClr val="1F2A36"/>
                </a:solidFill>
                <a:latin typeface="Calibri"/>
              </a:rPr>
              <a:t>geskrap</a:t>
            </a:r>
            <a:r>
              <a:rPr sz="1500" dirty="0">
                <a:solidFill>
                  <a:srgbClr val="1F2A36"/>
                </a:solidFill>
                <a:latin typeface="Calibri"/>
              </a:rPr>
              <a:t> </a:t>
            </a:r>
            <a:r>
              <a:rPr sz="1500" dirty="0" err="1">
                <a:solidFill>
                  <a:srgbClr val="1F2A36"/>
                </a:solidFill>
                <a:latin typeface="Calibri"/>
              </a:rPr>
              <a:t>nie</a:t>
            </a:r>
            <a:r>
              <a:rPr sz="1500" dirty="0">
                <a:solidFill>
                  <a:srgbClr val="1F2A36"/>
                </a:solidFill>
                <a:latin typeface="Calibri"/>
              </a:rPr>
              <a:t>.</a:t>
            </a:r>
          </a:p>
          <a:p>
            <a:pPr>
              <a:spcAft>
                <a:spcPts val="1200"/>
              </a:spcAft>
            </a:pPr>
            <a:r>
              <a:rPr sz="1500" b="1" dirty="0">
                <a:solidFill>
                  <a:srgbClr val="1B2838"/>
                </a:solidFill>
                <a:latin typeface="Calibri"/>
              </a:rPr>
              <a:t>▪ </a:t>
            </a:r>
            <a:r>
              <a:rPr sz="1500" b="1" dirty="0" err="1">
                <a:solidFill>
                  <a:srgbClr val="1B2838"/>
                </a:solidFill>
                <a:latin typeface="Calibri"/>
              </a:rPr>
              <a:t>Herhaalbaar</a:t>
            </a:r>
            <a:r>
              <a:rPr sz="1500" b="1" dirty="0">
                <a:solidFill>
                  <a:srgbClr val="1B2838"/>
                </a:solidFill>
                <a:latin typeface="Calibri"/>
              </a:rPr>
              <a:t>: </a:t>
            </a:r>
            <a:r>
              <a:rPr sz="1500" dirty="0" err="1">
                <a:solidFill>
                  <a:srgbClr val="1F2A36"/>
                </a:solidFill>
                <a:latin typeface="Calibri"/>
              </a:rPr>
              <a:t>process_reviews</a:t>
            </a:r>
            <a:r>
              <a:rPr sz="1500" dirty="0">
                <a:solidFill>
                  <a:srgbClr val="1F2A36"/>
                </a:solidFill>
                <a:latin typeface="Calibri"/>
              </a:rPr>
              <a:t>() </a:t>
            </a:r>
            <a:r>
              <a:rPr sz="1500" dirty="0" err="1">
                <a:solidFill>
                  <a:srgbClr val="1F2A36"/>
                </a:solidFill>
                <a:latin typeface="Calibri"/>
              </a:rPr>
              <a:t>kan</a:t>
            </a:r>
            <a:r>
              <a:rPr sz="1500" dirty="0">
                <a:solidFill>
                  <a:srgbClr val="1F2A36"/>
                </a:solidFill>
                <a:latin typeface="Calibri"/>
              </a:rPr>
              <a:t> die hele </a:t>
            </a:r>
            <a:r>
              <a:rPr sz="1500" dirty="0" err="1">
                <a:solidFill>
                  <a:srgbClr val="1F2A36"/>
                </a:solidFill>
                <a:latin typeface="Calibri"/>
              </a:rPr>
              <a:t>pyplyn</a:t>
            </a:r>
            <a:r>
              <a:rPr sz="1500" dirty="0">
                <a:solidFill>
                  <a:srgbClr val="1F2A36"/>
                </a:solidFill>
                <a:latin typeface="Calibri"/>
              </a:rPr>
              <a:t> </a:t>
            </a:r>
            <a:r>
              <a:rPr sz="1500" dirty="0" err="1">
                <a:solidFill>
                  <a:srgbClr val="1F2A36"/>
                </a:solidFill>
                <a:latin typeface="Calibri"/>
              </a:rPr>
              <a:t>weer</a:t>
            </a:r>
            <a:r>
              <a:rPr sz="1500" dirty="0">
                <a:solidFill>
                  <a:srgbClr val="1F2A36"/>
                </a:solidFill>
                <a:latin typeface="Calibri"/>
              </a:rPr>
              <a:t> </a:t>
            </a:r>
            <a:r>
              <a:rPr sz="1500" dirty="0" err="1">
                <a:solidFill>
                  <a:srgbClr val="1F2A36"/>
                </a:solidFill>
                <a:latin typeface="Calibri"/>
              </a:rPr>
              <a:t>hardloop</a:t>
            </a:r>
            <a:r>
              <a:rPr sz="1500" dirty="0">
                <a:solidFill>
                  <a:srgbClr val="1F2A36"/>
                </a:solidFill>
                <a:latin typeface="Calibri"/>
              </a:rPr>
              <a:t>.</a:t>
            </a:r>
            <a:endParaRPr lang="en-US" sz="1500" dirty="0">
              <a:solidFill>
                <a:srgbClr val="1F2A36"/>
              </a:solidFill>
              <a:latin typeface="Calibri"/>
            </a:endParaRPr>
          </a:p>
          <a:p>
            <a:pPr>
              <a:spcAft>
                <a:spcPts val="1200"/>
              </a:spcAft>
            </a:pPr>
            <a:r>
              <a:rPr lang="nl-NL" sz="1500" b="1" dirty="0">
                <a:solidFill>
                  <a:srgbClr val="1B2838"/>
                </a:solidFill>
                <a:latin typeface="Calibri"/>
              </a:rPr>
              <a:t>▪ Bewaring: </a:t>
            </a:r>
            <a:r>
              <a:rPr lang="nl-NL" sz="1500" dirty="0">
                <a:solidFill>
                  <a:srgbClr val="1F2A36"/>
                </a:solidFill>
                <a:latin typeface="Calibri"/>
              </a:rPr>
              <a:t>VADER-kolomme van vorige lopies word bewaar — geen werk verlore nie.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914400"/>
          </a:xfrm>
          <a:prstGeom prst="rect">
            <a:avLst/>
          </a:prstGeom>
          <a:solidFill>
            <a:srgbClr val="1B28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914400"/>
            <a:ext cx="12191695" cy="38100"/>
          </a:xfrm>
          <a:prstGeom prst="rect">
            <a:avLst/>
          </a:prstGeom>
          <a:solidFill>
            <a:srgbClr val="66C0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502920" y="164592"/>
            <a:ext cx="10515600" cy="5943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2600" b="1" i="0">
                <a:solidFill>
                  <a:srgbClr val="FFFFFF"/>
                </a:solidFill>
                <a:latin typeface="Calibri"/>
              </a:rPr>
              <a:t>Finale Skoon Datastel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292840" y="182880"/>
            <a:ext cx="73152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800" b="1" i="0">
                <a:solidFill>
                  <a:srgbClr val="66C0F4"/>
                </a:solidFill>
                <a:latin typeface="Calibri"/>
              </a:rPr>
              <a:t>10</a:t>
            </a:r>
          </a:p>
        </p:txBody>
      </p:sp>
      <p:sp>
        <p:nvSpPr>
          <p:cNvPr id="6" name="Rectangle 5"/>
          <p:cNvSpPr/>
          <p:nvPr/>
        </p:nvSpPr>
        <p:spPr>
          <a:xfrm>
            <a:off x="640080" y="1234440"/>
            <a:ext cx="3017520" cy="1097280"/>
          </a:xfrm>
          <a:prstGeom prst="rect">
            <a:avLst/>
          </a:prstGeom>
          <a:solidFill>
            <a:srgbClr val="A4D00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868680" y="1371600"/>
            <a:ext cx="256032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2400" b="1" i="0">
                <a:solidFill>
                  <a:srgbClr val="1B2838"/>
                </a:solidFill>
                <a:latin typeface="Calibri"/>
              </a:rPr>
              <a:t>159 768
resensies</a:t>
            </a:r>
          </a:p>
        </p:txBody>
      </p:sp>
      <p:sp>
        <p:nvSpPr>
          <p:cNvPr id="8" name="Rectangle 7"/>
          <p:cNvSpPr/>
          <p:nvPr/>
        </p:nvSpPr>
        <p:spPr>
          <a:xfrm>
            <a:off x="3886200" y="1234440"/>
            <a:ext cx="3017520" cy="1097280"/>
          </a:xfrm>
          <a:prstGeom prst="rect">
            <a:avLst/>
          </a:prstGeom>
          <a:solidFill>
            <a:srgbClr val="1B28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4114800" y="1371600"/>
            <a:ext cx="256032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2400" b="1" i="0">
                <a:solidFill>
                  <a:srgbClr val="FFFFFF"/>
                </a:solidFill>
                <a:latin typeface="Calibri"/>
              </a:rPr>
              <a:t>42
kolomme</a:t>
            </a:r>
          </a:p>
        </p:txBody>
      </p:sp>
      <p:sp>
        <p:nvSpPr>
          <p:cNvPr id="10" name="Rectangle 9"/>
          <p:cNvSpPr/>
          <p:nvPr/>
        </p:nvSpPr>
        <p:spPr>
          <a:xfrm>
            <a:off x="7132320" y="1234440"/>
            <a:ext cx="4434840" cy="1097280"/>
          </a:xfrm>
          <a:prstGeom prst="rect">
            <a:avLst/>
          </a:prstGeom>
          <a:solidFill>
            <a:srgbClr val="2A47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7360920" y="1371600"/>
            <a:ext cx="402336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700" b="1" i="0">
                <a:solidFill>
                  <a:srgbClr val="FFFFFF"/>
                </a:solidFill>
                <a:latin typeface="Calibri"/>
              </a:rPr>
              <a:t>9 genre-aanwysers +
5 VADER-kolomme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0080" y="2560320"/>
            <a:ext cx="5760720" cy="3657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900"/>
              </a:spcAft>
            </a:pPr>
            <a:r>
              <a:rPr sz="1500" b="1">
                <a:solidFill>
                  <a:srgbClr val="1B2838"/>
                </a:solidFill>
                <a:latin typeface="Calibri"/>
              </a:rPr>
              <a:t>▪ Identifikasie: </a:t>
            </a:r>
            <a:r>
              <a:rPr sz="1500">
                <a:solidFill>
                  <a:srgbClr val="1F2A36"/>
                </a:solidFill>
                <a:latin typeface="Calibri"/>
              </a:rPr>
              <a:t>app_id, game_name, review_id, language</a:t>
            </a:r>
          </a:p>
          <a:p>
            <a:pPr>
              <a:spcAft>
                <a:spcPts val="900"/>
              </a:spcAft>
            </a:pPr>
            <a:r>
              <a:rPr sz="1500" b="1">
                <a:solidFill>
                  <a:srgbClr val="1B2838"/>
                </a:solidFill>
                <a:latin typeface="Calibri"/>
              </a:rPr>
              <a:t>▪ Gedrag: </a:t>
            </a:r>
            <a:r>
              <a:rPr sz="1500">
                <a:solidFill>
                  <a:srgbClr val="1F2A36"/>
                </a:solidFill>
                <a:latin typeface="Calibri"/>
              </a:rPr>
              <a:t>playtime_forever (gekap), num_games_owned, votes, aankoop-konteks</a:t>
            </a:r>
          </a:p>
          <a:p>
            <a:pPr>
              <a:spcAft>
                <a:spcPts val="900"/>
              </a:spcAft>
            </a:pPr>
            <a:r>
              <a:rPr sz="1500" b="1">
                <a:solidFill>
                  <a:srgbClr val="1B2838"/>
                </a:solidFill>
                <a:latin typeface="Calibri"/>
              </a:rPr>
              <a:t>▪ Teks: </a:t>
            </a:r>
            <a:r>
              <a:rPr sz="1500">
                <a:solidFill>
                  <a:srgbClr val="1F2A36"/>
                </a:solidFill>
                <a:latin typeface="Calibri"/>
              </a:rPr>
              <a:t>review_text, review_text_clean, review_length, word_count</a:t>
            </a:r>
          </a:p>
          <a:p>
            <a:pPr>
              <a:spcAft>
                <a:spcPts val="900"/>
              </a:spcAft>
            </a:pPr>
            <a:r>
              <a:rPr sz="1500" b="1">
                <a:solidFill>
                  <a:srgbClr val="1B2838"/>
                </a:solidFill>
                <a:latin typeface="Calibri"/>
              </a:rPr>
              <a:t>▪ Datums: </a:t>
            </a:r>
            <a:r>
              <a:rPr sz="1500">
                <a:solidFill>
                  <a:srgbClr val="1F2A36"/>
                </a:solidFill>
                <a:latin typeface="Calibri"/>
              </a:rPr>
              <a:t>review_date, review_year, review_month, review_day_of_week</a:t>
            </a:r>
          </a:p>
          <a:p>
            <a:pPr>
              <a:spcAft>
                <a:spcPts val="900"/>
              </a:spcAft>
            </a:pPr>
            <a:r>
              <a:rPr sz="1500" b="1">
                <a:solidFill>
                  <a:srgbClr val="1B2838"/>
                </a:solidFill>
                <a:latin typeface="Calibri"/>
              </a:rPr>
              <a:t>▪ Teiken: </a:t>
            </a:r>
            <a:r>
              <a:rPr sz="1500">
                <a:solidFill>
                  <a:srgbClr val="1F2A36"/>
                </a:solidFill>
                <a:latin typeface="Calibri"/>
              </a:rPr>
              <a:t>voted_up (positief/negatief)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675120" y="2560320"/>
            <a:ext cx="4892040" cy="3291840"/>
          </a:xfrm>
          <a:prstGeom prst="rect">
            <a:avLst/>
          </a:prstGeom>
          <a:solidFill>
            <a:srgbClr val="F2F6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TextBox 13"/>
          <p:cNvSpPr txBox="1"/>
          <p:nvPr/>
        </p:nvSpPr>
        <p:spPr>
          <a:xfrm>
            <a:off x="6903720" y="2697480"/>
            <a:ext cx="448056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1" i="0">
                <a:solidFill>
                  <a:srgbClr val="1B2838"/>
                </a:solidFill>
                <a:latin typeface="Calibri"/>
              </a:rPr>
              <a:t>Datatipe-afdwinging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903720" y="3200400"/>
            <a:ext cx="4480560" cy="2560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700"/>
              </a:spcAft>
            </a:pPr>
            <a:r>
              <a:rPr sz="1300" dirty="0">
                <a:solidFill>
                  <a:srgbClr val="1F2A36"/>
                </a:solidFill>
                <a:latin typeface="Calibri"/>
              </a:rPr>
              <a:t>▪ </a:t>
            </a:r>
            <a:r>
              <a:rPr sz="1300" dirty="0" err="1">
                <a:solidFill>
                  <a:srgbClr val="1F2A36"/>
                </a:solidFill>
                <a:latin typeface="Calibri"/>
              </a:rPr>
              <a:t>voted_up</a:t>
            </a:r>
            <a:r>
              <a:rPr sz="1300" dirty="0">
                <a:solidFill>
                  <a:srgbClr val="1F2A36"/>
                </a:solidFill>
                <a:latin typeface="Calibri"/>
              </a:rPr>
              <a:t>, </a:t>
            </a:r>
            <a:r>
              <a:rPr sz="1300" dirty="0" err="1">
                <a:solidFill>
                  <a:srgbClr val="1F2A36"/>
                </a:solidFill>
                <a:latin typeface="Calibri"/>
              </a:rPr>
              <a:t>steam_purchase</a:t>
            </a:r>
            <a:r>
              <a:rPr sz="1300" dirty="0">
                <a:solidFill>
                  <a:srgbClr val="1F2A36"/>
                </a:solidFill>
                <a:latin typeface="Calibri"/>
              </a:rPr>
              <a:t> → bool</a:t>
            </a:r>
          </a:p>
          <a:p>
            <a:pPr>
              <a:spcAft>
                <a:spcPts val="700"/>
              </a:spcAft>
            </a:pPr>
            <a:r>
              <a:rPr sz="1300" dirty="0">
                <a:solidFill>
                  <a:srgbClr val="1F2A36"/>
                </a:solidFill>
                <a:latin typeface="Calibri"/>
              </a:rPr>
              <a:t>▪ playtime → float (</a:t>
            </a:r>
            <a:r>
              <a:rPr sz="1300" dirty="0" err="1">
                <a:solidFill>
                  <a:srgbClr val="1F2A36"/>
                </a:solidFill>
                <a:latin typeface="Calibri"/>
              </a:rPr>
              <a:t>NaN</a:t>
            </a:r>
            <a:r>
              <a:rPr sz="1300" dirty="0">
                <a:solidFill>
                  <a:srgbClr val="1F2A36"/>
                </a:solidFill>
                <a:latin typeface="Calibri"/>
              </a:rPr>
              <a:t> → 0)</a:t>
            </a:r>
          </a:p>
          <a:p>
            <a:pPr>
              <a:spcAft>
                <a:spcPts val="700"/>
              </a:spcAft>
            </a:pPr>
            <a:r>
              <a:rPr sz="1300" dirty="0">
                <a:solidFill>
                  <a:srgbClr val="1F2A36"/>
                </a:solidFill>
                <a:latin typeface="Calibri"/>
              </a:rPr>
              <a:t>▪ </a:t>
            </a:r>
            <a:r>
              <a:rPr sz="1300" dirty="0" err="1">
                <a:solidFill>
                  <a:srgbClr val="1F2A36"/>
                </a:solidFill>
                <a:latin typeface="Calibri"/>
              </a:rPr>
              <a:t>tydstempel</a:t>
            </a:r>
            <a:r>
              <a:rPr sz="1300" dirty="0">
                <a:solidFill>
                  <a:srgbClr val="1F2A36"/>
                </a:solidFill>
                <a:latin typeface="Calibri"/>
              </a:rPr>
              <a:t> → </a:t>
            </a:r>
            <a:r>
              <a:rPr sz="1300" dirty="0" err="1">
                <a:solidFill>
                  <a:srgbClr val="1F2A36"/>
                </a:solidFill>
                <a:latin typeface="Calibri"/>
              </a:rPr>
              <a:t>numeries</a:t>
            </a:r>
            <a:r>
              <a:rPr sz="1300" dirty="0">
                <a:solidFill>
                  <a:srgbClr val="1F2A36"/>
                </a:solidFill>
                <a:latin typeface="Calibri"/>
              </a:rPr>
              <a:t>, </a:t>
            </a:r>
            <a:r>
              <a:rPr sz="1300" dirty="0" err="1">
                <a:solidFill>
                  <a:srgbClr val="1F2A36"/>
                </a:solidFill>
                <a:latin typeface="Calibri"/>
              </a:rPr>
              <a:t>geldig</a:t>
            </a:r>
            <a:r>
              <a:rPr sz="1300" dirty="0">
                <a:solidFill>
                  <a:srgbClr val="1F2A36"/>
                </a:solidFill>
                <a:latin typeface="Calibri"/>
              </a:rPr>
              <a:t> </a:t>
            </a:r>
            <a:r>
              <a:rPr sz="1300" dirty="0" err="1">
                <a:solidFill>
                  <a:srgbClr val="1F2A36"/>
                </a:solidFill>
                <a:latin typeface="Calibri"/>
              </a:rPr>
              <a:t>vereis</a:t>
            </a:r>
            <a:endParaRPr sz="1300" dirty="0">
              <a:solidFill>
                <a:srgbClr val="1F2A36"/>
              </a:solidFill>
              <a:latin typeface="Calibri"/>
            </a:endParaRPr>
          </a:p>
          <a:p>
            <a:pPr>
              <a:spcAft>
                <a:spcPts val="700"/>
              </a:spcAft>
            </a:pPr>
            <a:r>
              <a:rPr sz="1300" dirty="0">
                <a:solidFill>
                  <a:srgbClr val="1F2A36"/>
                </a:solidFill>
                <a:latin typeface="Calibri"/>
              </a:rPr>
              <a:t>▪ genre_* → int 0/1 (one-hot)</a:t>
            </a:r>
          </a:p>
          <a:p>
            <a:pPr>
              <a:spcAft>
                <a:spcPts val="700"/>
              </a:spcAft>
            </a:pPr>
            <a:r>
              <a:rPr sz="1300" dirty="0">
                <a:solidFill>
                  <a:srgbClr val="1F2A36"/>
                </a:solidFill>
                <a:latin typeface="Calibri"/>
              </a:rPr>
              <a:t>▪ </a:t>
            </a:r>
            <a:r>
              <a:rPr sz="1300" dirty="0" err="1">
                <a:solidFill>
                  <a:srgbClr val="1F2A36"/>
                </a:solidFill>
                <a:latin typeface="Calibri"/>
              </a:rPr>
              <a:t>geen</a:t>
            </a:r>
            <a:r>
              <a:rPr sz="1300" dirty="0">
                <a:solidFill>
                  <a:srgbClr val="1F2A36"/>
                </a:solidFill>
                <a:latin typeface="Calibri"/>
              </a:rPr>
              <a:t> </a:t>
            </a:r>
            <a:r>
              <a:rPr sz="1300" dirty="0" err="1">
                <a:solidFill>
                  <a:srgbClr val="1F2A36"/>
                </a:solidFill>
                <a:latin typeface="Calibri"/>
              </a:rPr>
              <a:t>ontbrekende</a:t>
            </a:r>
            <a:r>
              <a:rPr sz="1300" dirty="0">
                <a:solidFill>
                  <a:srgbClr val="1F2A36"/>
                </a:solidFill>
                <a:latin typeface="Calibri"/>
              </a:rPr>
              <a:t> </a:t>
            </a:r>
            <a:r>
              <a:rPr sz="1300" dirty="0" err="1">
                <a:solidFill>
                  <a:srgbClr val="1F2A36"/>
                </a:solidFill>
                <a:latin typeface="Calibri"/>
              </a:rPr>
              <a:t>kernwaardes</a:t>
            </a:r>
            <a:r>
              <a:rPr sz="1300" dirty="0">
                <a:solidFill>
                  <a:srgbClr val="1F2A36"/>
                </a:solidFill>
                <a:latin typeface="Calibri"/>
              </a:rPr>
              <a:t> </a:t>
            </a:r>
            <a:r>
              <a:rPr sz="1300" dirty="0" err="1">
                <a:solidFill>
                  <a:srgbClr val="1F2A36"/>
                </a:solidFill>
                <a:latin typeface="Calibri"/>
              </a:rPr>
              <a:t>oor</a:t>
            </a:r>
            <a:endParaRPr sz="1300" dirty="0">
              <a:solidFill>
                <a:srgbClr val="1F2A36"/>
              </a:solidFill>
              <a:latin typeface="Calibri"/>
            </a:endParaRP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914400"/>
          </a:xfrm>
          <a:prstGeom prst="rect">
            <a:avLst/>
          </a:prstGeom>
          <a:solidFill>
            <a:srgbClr val="1B28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914400"/>
            <a:ext cx="12191695" cy="38100"/>
          </a:xfrm>
          <a:prstGeom prst="rect">
            <a:avLst/>
          </a:prstGeom>
          <a:solidFill>
            <a:srgbClr val="66C0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502920" y="164592"/>
            <a:ext cx="10515600" cy="5943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2600" b="1" i="0">
                <a:solidFill>
                  <a:srgbClr val="FFFFFF"/>
                </a:solidFill>
                <a:latin typeface="Calibri"/>
              </a:rPr>
              <a:t>Resultaat: Resensie-volume per Genre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292840" y="182880"/>
            <a:ext cx="73152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800" b="1" i="0">
                <a:solidFill>
                  <a:srgbClr val="66C0F4"/>
                </a:solidFill>
                <a:latin typeface="Calibri"/>
              </a:rPr>
              <a:t>11</a:t>
            </a:r>
          </a:p>
        </p:txBody>
      </p:sp>
      <p:pic>
        <p:nvPicPr>
          <p:cNvPr id="6" name="Picture 5" descr="fig4_genres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31520" y="1280160"/>
            <a:ext cx="6949440" cy="3706368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7955279" y="1463040"/>
            <a:ext cx="384048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</a:pPr>
            <a:r>
              <a:rPr sz="1500" b="1">
                <a:solidFill>
                  <a:srgbClr val="1B2838"/>
                </a:solidFill>
                <a:latin typeface="Calibri"/>
              </a:rPr>
              <a:t>▪ Genoeg volume per genre </a:t>
            </a:r>
            <a:r>
              <a:rPr sz="1500">
                <a:solidFill>
                  <a:srgbClr val="1F2A36"/>
                </a:solidFill>
                <a:latin typeface="Calibri"/>
              </a:rPr>
              <a:t>vir statistiese toetse in Fase 3.</a:t>
            </a:r>
          </a:p>
          <a:p>
            <a:pPr>
              <a:spcAft>
                <a:spcPts val="1200"/>
              </a:spcAft>
            </a:pPr>
            <a:r>
              <a:rPr sz="1500" b="1">
                <a:solidFill>
                  <a:srgbClr val="1B2838"/>
                </a:solidFill>
                <a:latin typeface="Calibri"/>
              </a:rPr>
              <a:t>▪ Genre-oorgang: </a:t>
            </a:r>
            <a:r>
              <a:rPr sz="1500">
                <a:solidFill>
                  <a:srgbClr val="1F2A36"/>
                </a:solidFill>
                <a:latin typeface="Calibri"/>
              </a:rPr>
              <a:t>baie speletjies behoort aan meerdere genres (bv. Elden Ring: Action + RPG).</a:t>
            </a:r>
          </a:p>
          <a:p>
            <a:pPr>
              <a:spcAft>
                <a:spcPts val="1200"/>
              </a:spcAft>
            </a:pPr>
            <a:r>
              <a:rPr sz="1500" b="1">
                <a:solidFill>
                  <a:srgbClr val="1B2838"/>
                </a:solidFill>
                <a:latin typeface="Calibri"/>
              </a:rPr>
              <a:t>▪ One-hot etikette </a:t>
            </a:r>
            <a:r>
              <a:rPr sz="1500">
                <a:solidFill>
                  <a:srgbClr val="1F2A36"/>
                </a:solidFill>
                <a:latin typeface="Calibri"/>
              </a:rPr>
              <a:t>laat per-genre vergelyking sonder dubbeltelling toe.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914400"/>
          </a:xfrm>
          <a:prstGeom prst="rect">
            <a:avLst/>
          </a:prstGeom>
          <a:solidFill>
            <a:srgbClr val="1B28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914400"/>
            <a:ext cx="12191695" cy="38100"/>
          </a:xfrm>
          <a:prstGeom prst="rect">
            <a:avLst/>
          </a:prstGeom>
          <a:solidFill>
            <a:srgbClr val="66C0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502920" y="164592"/>
            <a:ext cx="10515600" cy="5943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2600" b="1" i="0">
                <a:solidFill>
                  <a:srgbClr val="FFFFFF"/>
                </a:solidFill>
                <a:latin typeface="Calibri"/>
              </a:rPr>
              <a:t>Plan vir Fase 3 (EDA) &amp; Slot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292840" y="182880"/>
            <a:ext cx="73152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800" b="1" i="0">
                <a:solidFill>
                  <a:srgbClr val="66C0F4"/>
                </a:solidFill>
                <a:latin typeface="Calibri"/>
              </a:rPr>
              <a:t>12</a:t>
            </a:r>
          </a:p>
        </p:txBody>
      </p:sp>
      <p:sp>
        <p:nvSpPr>
          <p:cNvPr id="6" name="Rectangle 5"/>
          <p:cNvSpPr/>
          <p:nvPr/>
        </p:nvSpPr>
        <p:spPr>
          <a:xfrm>
            <a:off x="640080" y="1280160"/>
            <a:ext cx="5394960" cy="502920"/>
          </a:xfrm>
          <a:prstGeom prst="rect">
            <a:avLst/>
          </a:prstGeom>
          <a:solidFill>
            <a:srgbClr val="1B28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868680" y="1344168"/>
            <a:ext cx="493776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700" b="1" i="0">
                <a:solidFill>
                  <a:srgbClr val="FFFFFF"/>
                </a:solidFill>
                <a:latin typeface="Calibri"/>
              </a:rPr>
              <a:t>Fase 3: Verkennende Data Analise (beplan)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965960"/>
            <a:ext cx="5394960" cy="3931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1500">
                <a:solidFill>
                  <a:srgbClr val="1F2A36"/>
                </a:solidFill>
                <a:latin typeface="Calibri"/>
              </a:rPr>
              <a:t>▪ Basiese statistieke: totale, positief-%, gemiddelde speeltyd per genre.</a:t>
            </a:r>
          </a:p>
          <a:p>
            <a:pPr>
              <a:spcAft>
                <a:spcPts val="1000"/>
              </a:spcAft>
            </a:pPr>
            <a:r>
              <a:rPr sz="1500">
                <a:solidFill>
                  <a:srgbClr val="1F2A36"/>
                </a:solidFill>
                <a:latin typeface="Calibri"/>
              </a:rPr>
              <a:t>▪ Formele toetse: t-toetse &amp; ANOVA vir genre-verskille (resensielengte, sentiment).</a:t>
            </a:r>
          </a:p>
          <a:p>
            <a:pPr>
              <a:spcAft>
                <a:spcPts val="1000"/>
              </a:spcAft>
            </a:pPr>
            <a:r>
              <a:rPr sz="1500">
                <a:solidFill>
                  <a:srgbClr val="1F2A36"/>
                </a:solidFill>
                <a:latin typeface="Calibri"/>
              </a:rPr>
              <a:t>▪ Patrone &amp; tendense: volume, sentiment-verspreiding, uitskieters.</a:t>
            </a:r>
          </a:p>
          <a:p>
            <a:pPr>
              <a:spcAft>
                <a:spcPts val="1000"/>
              </a:spcAft>
            </a:pPr>
            <a:r>
              <a:rPr sz="1500">
                <a:solidFill>
                  <a:srgbClr val="1F2A36"/>
                </a:solidFill>
                <a:latin typeface="Calibri"/>
              </a:rPr>
              <a:t>▪ Aanvanklike plan vir die diepgaande analise (Fase 4).</a:t>
            </a:r>
          </a:p>
        </p:txBody>
      </p:sp>
      <p:sp>
        <p:nvSpPr>
          <p:cNvPr id="9" name="Rectangle 8"/>
          <p:cNvSpPr/>
          <p:nvPr/>
        </p:nvSpPr>
        <p:spPr>
          <a:xfrm>
            <a:off x="6309360" y="1280160"/>
            <a:ext cx="5257800" cy="4206240"/>
          </a:xfrm>
          <a:prstGeom prst="rect">
            <a:avLst/>
          </a:prstGeom>
          <a:solidFill>
            <a:srgbClr val="F2F6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6537960" y="1463040"/>
            <a:ext cx="475488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700" b="1" i="0">
                <a:solidFill>
                  <a:srgbClr val="1B2838"/>
                </a:solidFill>
                <a:latin typeface="Calibri"/>
              </a:rPr>
              <a:t>Samevatting van Fase 2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537960" y="2011680"/>
            <a:ext cx="4754880" cy="3291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900"/>
              </a:spcAft>
            </a:pPr>
            <a:r>
              <a:rPr sz="1400" b="1">
                <a:solidFill>
                  <a:srgbClr val="1B2838"/>
                </a:solidFill>
                <a:latin typeface="Calibri"/>
              </a:rPr>
              <a:t>▪ 161 630 rou → 159 768 skoon resensies</a:t>
            </a:r>
            <a:r>
              <a:rPr sz="1400">
                <a:solidFill>
                  <a:srgbClr val="1F2A36"/>
                </a:solidFill>
                <a:latin typeface="Calibri"/>
              </a:rPr>
              <a:t> (1.2% verwyder)</a:t>
            </a:r>
          </a:p>
          <a:p>
            <a:pPr>
              <a:spcAft>
                <a:spcPts val="900"/>
              </a:spcAft>
            </a:pPr>
            <a:r>
              <a:rPr sz="1400" b="1">
                <a:solidFill>
                  <a:srgbClr val="1B2838"/>
                </a:solidFill>
                <a:latin typeface="Calibri"/>
              </a:rPr>
              <a:t>▪ 33 speletjies · 9 genres · 30 tale</a:t>
            </a:r>
          </a:p>
          <a:p>
            <a:pPr>
              <a:spcAft>
                <a:spcPts val="900"/>
              </a:spcAft>
            </a:pPr>
            <a:r>
              <a:rPr sz="1400" b="1">
                <a:solidFill>
                  <a:srgbClr val="1B2838"/>
                </a:solidFill>
                <a:latin typeface="Calibri"/>
              </a:rPr>
              <a:t>▪ Steam API-webskraping, volledig gedokumenteer</a:t>
            </a:r>
          </a:p>
          <a:p>
            <a:pPr>
              <a:spcAft>
                <a:spcPts val="900"/>
              </a:spcAft>
            </a:pPr>
            <a:r>
              <a:rPr sz="1400" b="1">
                <a:solidFill>
                  <a:srgbClr val="1B2838"/>
                </a:solidFill>
                <a:latin typeface="Calibri"/>
              </a:rPr>
              <a:t>▪ Datastel gereed vir Fase 3</a:t>
            </a:r>
            <a:r>
              <a:rPr sz="1400">
                <a:solidFill>
                  <a:srgbClr val="1F2A36"/>
                </a:solidFill>
                <a:latin typeface="Calibri"/>
              </a:rPr>
              <a:t> — gestruktureer, geen ontbrekende kernwaardes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40080" y="5806440"/>
            <a:ext cx="10927080" cy="548640"/>
          </a:xfrm>
          <a:prstGeom prst="rect">
            <a:avLst/>
          </a:prstGeom>
          <a:solidFill>
            <a:srgbClr val="A4D00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868680" y="5870448"/>
            <a:ext cx="10515600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1" i="0">
                <a:solidFill>
                  <a:srgbClr val="1B2838"/>
                </a:solidFill>
                <a:latin typeface="Calibri"/>
              </a:rPr>
              <a:t>Dankie! Enige vrae?  ·  Albei groeplede het bygedra tot insameling, skoonmaak en aanbieding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155</TotalTime>
  <Words>2111</Words>
  <Application>Microsoft Office PowerPoint</Application>
  <PresentationFormat>Widescreen</PresentationFormat>
  <Paragraphs>170</Paragraphs>
  <Slides>12</Slides>
  <Notes>12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12</vt:i4>
      </vt:variant>
    </vt:vector>
  </HeadingPairs>
  <TitlesOfParts>
    <vt:vector size="16" baseType="lpstr">
      <vt:lpstr>Arial</vt:lpstr>
      <vt:lpstr>Calibri</vt:lpstr>
      <vt:lpstr>Consolas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Manager/>
  <Company/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Vincent Mills</cp:lastModifiedBy>
  <cp:revision>3</cp:revision>
  <dcterms:created xsi:type="dcterms:W3CDTF">2013-01-27T09:14:16Z</dcterms:created>
  <dcterms:modified xsi:type="dcterms:W3CDTF">2026-08-13T07:38:43Z</dcterms:modified>
  <cp:category/>
</cp:coreProperties>
</file>