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Verwelkoming (Lid 1): 'Ons gaan vandag wys hoe ons ons Fase 2 data ingesamel en skoongemaak het vir ons Steam-genre-analise.'</a:t>
            </a:r>
          </a:p>
          <a:p>
            <a:r>
              <a:t>Oorsig van aanbieding in 1 sin: wat ons geskraap het, watter probleme ons gevind het, hoe ons dit skoongemaak het, en wat die finale datastel lyk.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1: 'Fase 2 fokus op twee dinge: hoe ons die data aktief ingesamel het, en hoe ons dit skoongemaak en voorberei het vir analise.'</a:t>
            </a:r>
          </a:p>
          <a:p>
            <a:r>
              <a:t>Lid 2: 'Ons sluit af met ons plan vir Fase 3 — die verkennende data-analise.'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1: 'Ons beplanning het by die navorsingsvraag begin — watter genre werk. Ons het 33 speletjies oor 9 genres gekies sodat elke genre genoeg volume het.'</a:t>
            </a:r>
          </a:p>
          <a:p>
            <a:r>
              <a:t>Lid 2: 'Die beplanning is vooraf op papier uiteengesit en op Spens gelaai — dit wys ons verstaan die probleem en die data-pyplyn.'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2: 'Ons het die skraper self geskryf en uitgevoer. Die API gee 100 resensies per versoek met 'n cursor vir paginasie — ons het 0.3 sekonde tussen versoeke gewag om die API nie te oorlaai nie.'</a:t>
            </a:r>
          </a:p>
          <a:p>
            <a:r>
              <a:t>Wys die kode op die skerm terwyl jy praat: 'Let op die deduplikasie via seen_ids en die 3-leë-bladsye-stop.'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1: 'Drie kernbesluite in die skraper: paginasie met 'n cursor, deduplikasie sodat ons nie dieselfde resensie dubbel tel nie, en 'n stop-reël na drie leë bladsye.'</a:t>
            </a:r>
          </a:p>
          <a:p>
            <a:r>
              <a:t>Lid 2: 'Ons het met 50 bladsye per speletjie gewerk — dit gee genoeg volume per speletjie vir genre-vlak analise.'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2: 'Hier is die resultaat van ons skraping: 161 630 rou resensies oor 33 speletjies en 30 tale. Engels is die grootste groep — belangrik omdat ons NLP in Fase 4 op Engelse resensies gaan doen.'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1: 'Voordat ons skoongemaak het, het ons die rou data ondersoek. Die grootste probleme: leë teks, baie kort spam-resensies, emoji-nonsens, en speeltyd-uitskieters soos 6 jaar.'</a:t>
            </a:r>
          </a:p>
          <a:p>
            <a:r>
              <a:t>Lid 2: 'Hierdie probleme moes aangespreek word anders sou hulle die analise in Fase 3 en 4 verwring.'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2: 'Elke skoonmaakstap het 'n rede. Byvoorbeeld: ons gooi resensies korter as 10 karakters weg omdat dit meestal spam is, en ons kap speeltyd-uitskieters af by die 99ste persentiel eerder as om hulle te verwyder — so ons behou die resensie maar neutraliseer die ekstreme waarde.'</a:t>
            </a:r>
          </a:p>
          <a:p>
            <a:r>
              <a:t>Lid 1: 'Die genre-one-hot kolomme kom uit ons GAME_GENRES-kartering — dit maak genre-vlak vergelyking in Fase 3 moontlik.'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1: 'Net 1.2% van die resensies is verwyder — die skraper lewer goeie data. Die groot waarde van skoonmaak lê in die struktuur: korrekte datatipes, afgeleide datums en genre-etikette.'</a:t>
            </a:r>
          </a:p>
          <a:p>
            <a:r>
              <a:t>Lid 2: 'Die pyplyn is herhaalbaar via een funksie, process_reviews(), wat ook VADER-kolomme van vorige lopies bewaar.'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2: 'Die finale datastel het 159 768 resensies en 42 kolomme. Die struktuur is ontwerp rondom ons navorsingsvraag: identifikasie, speler-gedrag, teks, datums — en die teikenkolom voted_up.'</a:t>
            </a:r>
          </a:p>
          <a:p>
            <a:r>
              <a:t>Lid 1: 'Datatipes is afgedwing sodat elke kolom reg is vir analise — byvoorbeeld bool vir aanbevelings en float vir speeltyd.'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1: 'Hier sien ons die volume per genre. Elke genre het genoeg resensies vir formele statistiese toetse in Fase 3. Let op: speletjies kan aan meer as een genre behoort — daarom gebruik ons one-hot-etikette eerder as 'n enkele genre-kolom.'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 2: 'Ons Fase 3-plan: eers basiese statistieke per genre, dan formele t-toetse en ANOVA om genre-verskille te bewys, en patrone identifiseer vir die diepgaande analise.'</a:t>
            </a:r>
          </a:p>
          <a:p>
            <a:r>
              <a:t>Lid 1: 'Opsomming: ons het 161 630 resensies aktief geskraap en dit skoongemaak na 159 768 — 'n skoon, gestruktureerde datastel gereed vir Fase 3. Dankie vir julle tyd — enige vrae?'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08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FASE 2: DATA INSAMELING EN VERWERKING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66C0F4"/>
                </a:solidFill>
                <a:latin typeface="Calibri"/>
              </a:rPr>
              <a:t>Steam Game Genre Analysis — “Watter genre werk?”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BBCCDD"/>
                </a:solidFill>
                <a:latin typeface="Calibri"/>
              </a:rPr>
              <a:t>33 speletjies · 9 genres · 161 630 rou → 159 768 skoon resensies (Julie 2026-venster)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Aktiewe webskraping via die Steam API  ·  Skoonmaak- &amp; voorbereidingspyplyn  ·  Plan vir Fase 3 (EDA)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E7A89"/>
                </a:solidFill>
                <a:latin typeface="Calibri"/>
              </a:rPr>
              <a:t>Portefeulje Projek — Klasaanbieding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Wat behels Fase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1B2838"/>
                </a:solidFill>
                <a:latin typeface="Calibri"/>
              </a:rPr>
              <a:t>▪ Aktiewe data-insameling: </a:t>
            </a:r>
            <a:r>
              <a:rPr sz="1700">
                <a:solidFill>
                  <a:srgbClr val="1F2A36"/>
                </a:solidFill>
                <a:latin typeface="Calibri"/>
              </a:rPr>
              <a:t>webskraping van 33 speletjies se resensies, besonderhede en huidige spelertellings via die Steam API.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1B2838"/>
                </a:solidFill>
                <a:latin typeface="Calibri"/>
              </a:rPr>
              <a:t>▪ Data skoonmaak: </a:t>
            </a:r>
            <a:r>
              <a:rPr sz="1700">
                <a:solidFill>
                  <a:srgbClr val="1F2A36"/>
                </a:solidFill>
                <a:latin typeface="Calibri"/>
              </a:rPr>
              <a:t>duplikate, leë teks, spam, ongeldige tydstempels en speeltyd-uitskieters hanteer.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1B2838"/>
                </a:solidFill>
                <a:latin typeface="Calibri"/>
              </a:rPr>
              <a:t>▪ Voorbereiding: </a:t>
            </a:r>
            <a:r>
              <a:rPr sz="1700">
                <a:solidFill>
                  <a:srgbClr val="1F2A36"/>
                </a:solidFill>
                <a:latin typeface="Calibri"/>
              </a:rPr>
              <a:t>kenmerk-ingenieurswese + 9 genre-aanwyserkolomme vir genre-vlak analise.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1B2838"/>
                </a:solidFill>
                <a:latin typeface="Calibri"/>
              </a:rPr>
              <a:t>▪ Dokumentasie: </a:t>
            </a:r>
            <a:r>
              <a:rPr sz="1700">
                <a:solidFill>
                  <a:srgbClr val="1F2A36"/>
                </a:solidFill>
                <a:latin typeface="Calibri"/>
              </a:rPr>
              <a:t>elke stap is herhaalbaar en in die notebook gedokumenteer.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1B2838"/>
                </a:solidFill>
                <a:latin typeface="Calibri"/>
              </a:rPr>
              <a:t>▪ Plan vir Fase 3: </a:t>
            </a:r>
            <a:r>
              <a:rPr sz="1700">
                <a:solidFill>
                  <a:srgbClr val="1F2A36"/>
                </a:solidFill>
                <a:latin typeface="Calibri"/>
              </a:rPr>
              <a:t>verkennende data-analise word net beplan, nie uitgevoer nie.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120640" cy="50292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3560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F2A36"/>
                </a:solidFill>
                <a:latin typeface="Calibri"/>
              </a:rPr>
              <a:t>▪ Navorsingsvraag &amp; beplanning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36"/>
                </a:solidFill>
                <a:latin typeface="Calibri"/>
              </a:rPr>
              <a:t>▪ Aktiewe data-insameling (Steam API)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36"/>
                </a:solidFill>
                <a:latin typeface="Calibri"/>
              </a:rPr>
              <a:t>▪ Probleme in die rou data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36"/>
                </a:solidFill>
                <a:latin typeface="Calibri"/>
              </a:rPr>
              <a:t>▪ Skoonmaak &amp; voorbereiding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36"/>
                </a:solidFill>
                <a:latin typeface="Calibri"/>
              </a:rPr>
              <a:t>▪ Finale datastel struktuur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F2A36"/>
                </a:solidFill>
                <a:latin typeface="Calibri"/>
              </a:rPr>
              <a:t>▪ Plan vir Fase 3 (EDA)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Beplanning: Navorsingsvraag &amp; Databronne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Navorsingsvraag: </a:t>
            </a:r>
            <a:r>
              <a:rPr sz="1600">
                <a:solidFill>
                  <a:srgbClr val="1F2A36"/>
                </a:solidFill>
                <a:latin typeface="Calibri"/>
              </a:rPr>
              <a:t>“Watter genre werk?” — watter genre is die gewildste, watter kenmerke dryf sukses, en hoe lyk die kommentaar binne elke genre?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Hipotese: </a:t>
            </a:r>
            <a:r>
              <a:rPr sz="1600">
                <a:solidFill>
                  <a:srgbClr val="1F2A36"/>
                </a:solidFill>
                <a:latin typeface="Calibri"/>
              </a:rPr>
              <a:t>genre bepaal basislyn-verwagtinge — suksesfaktore verskil beduidend tussen genres.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Steekproef: </a:t>
            </a:r>
            <a:r>
              <a:rPr sz="1600">
                <a:solidFill>
                  <a:srgbClr val="1F2A36"/>
                </a:solidFill>
                <a:latin typeface="Calibri"/>
              </a:rPr>
              <a:t>33 speletjies oor 9 genres (RPG, Shooter, Hero Shooter, Battle Royale, Action, Strategy, Adventure, Survival, Free to Play).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5669280" cy="457200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41648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Databron: Steam API (slegs openbare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appreviews — resensies (taal, speeltyd, stem, teks)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appdetails — besonderhede (prys, genres, kritici-telling)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GetNumberOfCurrentPlayers — huidige spelertellings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371600"/>
            <a:ext cx="5029200" cy="502920"/>
          </a:xfrm>
          <a:prstGeom prst="rect">
            <a:avLst/>
          </a:prstGeom>
          <a:solidFill>
            <a:srgbClr val="A4D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43560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B2838"/>
                </a:solidFill>
                <a:latin typeface="Calibri"/>
              </a:rPr>
              <a:t>Klasbeplanning (op papier, Spens)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Doelwit per datastel gedefinieer (wat, hoekom, volume).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Skraapstrategie: 33 speletjies, 0.3 s vertraging, deduplikasie.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Skoonmaakplan: duplikate, leë teks, spam, uitskieters.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Genres toegewys via GAME_GENRES-kartering (utils.py).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Einddoel: skoon, gestruktureerde datastel gereed vir Fase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Aktiewe Data-Insameling: Steam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Webskraping self toegepas: </a:t>
            </a:r>
            <a:r>
              <a:rPr sz="1600">
                <a:solidFill>
                  <a:srgbClr val="1F2A36"/>
                </a:solidFill>
                <a:latin typeface="Calibri"/>
              </a:rPr>
              <a:t>Python + requests teen Steam se openbare API — geen klaargemaakte CSV afgelaai nie.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Resensies: </a:t>
            </a:r>
            <a:r>
              <a:rPr sz="1600">
                <a:solidFill>
                  <a:srgbClr val="1F2A36"/>
                </a:solidFill>
                <a:latin typeface="Calibri"/>
              </a:rPr>
              <a:t>ISteamReviews/appreviews — purchase_type=all, day_range=9999 (alle resensies).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Besonderhede: </a:t>
            </a:r>
            <a:r>
              <a:rPr sz="1600">
                <a:solidFill>
                  <a:srgbClr val="1F2A36"/>
                </a:solidFill>
                <a:latin typeface="Calibri"/>
              </a:rPr>
              <a:t>store.steampowered.com/api/appdetails per speletjie.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Spelers: </a:t>
            </a:r>
            <a:r>
              <a:rPr sz="1600">
                <a:solidFill>
                  <a:srgbClr val="1F2A36"/>
                </a:solidFill>
                <a:latin typeface="Calibri"/>
              </a:rPr>
              <a:t>ISteamUserStats/GetNumberOfCurrentPlayers — huidige snapshot.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216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Skraap-kode (src/scrape.py)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04060"/>
                </a:solidFill>
                <a:latin typeface="Consolas"/>
              </a:rPr>
              <a:t>params = {'json': 1, 'language': 'all', 'num_per_page': 100,
          'purchase_type': 'all', 'day_range': 9999, 'cursor': cursor}
data = safe_request(f'https://store.steampowered.com/appreviews/{app_id}', params)
for r in data['reviews']:            # 0.3 s vertraging tussen bladsye
    if r['recommendationid'] not in seen_ids:   # deduplikasie
        seen_ids.add(r['recommendationid']);  all_reviews.append(parse(r))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E7A89"/>
                </a:solidFill>
                <a:latin typeface="Calibri"/>
              </a:rPr>
              <a:t>Dedup via seen_ids · stop na 3 leë bladsye · 50 bladsye per speletjie (progressiewe herskraper)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Skraping-metode: Hoe dit werk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56616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A36"/>
                </a:solidFill>
                <a:latin typeface="Calibri"/>
              </a:rPr>
              <a:t>1. Paginasie
100 resensies per versoek, cursor beweeg deur alle bladsye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371600"/>
            <a:ext cx="356616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481328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A36"/>
                </a:solidFill>
                <a:latin typeface="Calibri"/>
              </a:rPr>
              <a:t>2. Deduplikasie
seen_ids verhoed dat dieselfde resensie twee keer gestoor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371600"/>
            <a:ext cx="320040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481328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2A36"/>
                </a:solidFill>
                <a:latin typeface="Calibri"/>
              </a:rPr>
              <a:t>3. Stop-reël
3 opeenvolgende leë bladsye = einde van die speletjie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Volume: </a:t>
            </a:r>
            <a:r>
              <a:rPr sz="1600">
                <a:solidFill>
                  <a:srgbClr val="1F2A36"/>
                </a:solidFill>
                <a:latin typeface="Calibri"/>
              </a:rPr>
              <a:t>50 bladsye per speletjie (herskraper), 33 speletjies.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Tempo: </a:t>
            </a:r>
            <a:r>
              <a:rPr sz="1600">
                <a:solidFill>
                  <a:srgbClr val="1F2A36"/>
                </a:solidFill>
                <a:latin typeface="Calibri"/>
              </a:rPr>
              <a:t>0.3 s vertraging + herprobeer (3×) by foute — vriendelik teenoor die API.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Tailering: </a:t>
            </a:r>
            <a:r>
              <a:rPr sz="1600">
                <a:solidFill>
                  <a:srgbClr val="1F2A36"/>
                </a:solidFill>
                <a:latin typeface="Calibri"/>
              </a:rPr>
              <a:t>language=all — ons het alle tale gekry (30 tale).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Resultaat: </a:t>
            </a:r>
            <a:r>
              <a:rPr sz="1600">
                <a:solidFill>
                  <a:srgbClr val="1F2A36"/>
                </a:solidFill>
                <a:latin typeface="Calibri"/>
              </a:rPr>
              <a:t>161 630 rou resensies oor 33 speletjies.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80720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Wat ons geskraap het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161 630 resensies (review_id, teks, taal, speeltyd, stem, aankoop)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33 speletjie-profiele (prys, genres, ontwikkelaar, Metacritic)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33 huidige spelertellings (snapshot)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Wat ons ingesamel het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2606040" cy="123444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161 630
rou resensies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80160"/>
            <a:ext cx="2606040" cy="123444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41732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33
speletjies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2606040" cy="123444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1732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9
genres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280160"/>
            <a:ext cx="2606040" cy="123444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417320"/>
            <a:ext cx="2194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30
tale</a:t>
            </a:r>
          </a:p>
        </p:txBody>
      </p:sp>
      <p:pic>
        <p:nvPicPr>
          <p:cNvPr id="14" name="Picture 13" descr="fig2_langu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34640"/>
            <a:ext cx="6675120" cy="3560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0" y="292608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Engels is dominant </a:t>
            </a:r>
            <a:r>
              <a:rPr sz="1500">
                <a:solidFill>
                  <a:srgbClr val="1F2A36"/>
                </a:solidFill>
                <a:latin typeface="Calibri"/>
              </a:rPr>
              <a:t>(79 521) — geskik vir NLP in Fase 4.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Spaans, Portugees, Russies </a:t>
            </a:r>
            <a:r>
              <a:rPr sz="1500">
                <a:solidFill>
                  <a:srgbClr val="1F2A36"/>
                </a:solidFill>
                <a:latin typeface="Calibri"/>
              </a:rPr>
              <a:t>ook sterk teenwoordig.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Belangrik vir Fase 3: </a:t>
            </a:r>
            <a:r>
              <a:rPr sz="1500">
                <a:solidFill>
                  <a:srgbClr val="1F2A36"/>
                </a:solidFill>
                <a:latin typeface="Calibri"/>
              </a:rPr>
              <a:t>taal is ’n konteks-kolom, nie ’n fokus nie.</a:t>
            </a:r>
          </a:p>
          <a:p>
            <a:pPr>
              <a:spcAft>
                <a:spcPts val="10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app_details.csv + player_counts.csv </a:t>
            </a:r>
            <a:r>
              <a:rPr sz="1500">
                <a:solidFill>
                  <a:srgbClr val="1F2A36"/>
                </a:solidFill>
                <a:latin typeface="Calibri"/>
              </a:rPr>
              <a:t>ondersteun genre-rangorde.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Probleme in die Rou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Leë / ontbrekende teks: </a:t>
            </a:r>
            <a:r>
              <a:rPr sz="1600">
                <a:solidFill>
                  <a:srgbClr val="1F2A36"/>
                </a:solidFill>
                <a:latin typeface="Calibri"/>
              </a:rPr>
              <a:t>32 resensies sonder bruikbare teks.</a:t>
            </a:r>
          </a:p>
          <a:p>
            <a:pPr>
              <a:spcAft>
                <a:spcPts val="11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Te kort (spam): </a:t>
            </a:r>
            <a:r>
              <a:rPr sz="1600">
                <a:solidFill>
                  <a:srgbClr val="1F2A36"/>
                </a:solidFill>
                <a:latin typeface="Calibri"/>
              </a:rPr>
              <a:t>1 815 resensies korter as 10 karakters (bv. “gg”, “10/10”).</a:t>
            </a:r>
          </a:p>
          <a:p>
            <a:pPr>
              <a:spcAft>
                <a:spcPts val="11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Nonsens / emoji-spam: </a:t>
            </a:r>
            <a:r>
              <a:rPr sz="1600">
                <a:solidFill>
                  <a:srgbClr val="1F2A36"/>
                </a:solidFill>
                <a:latin typeface="Calibri"/>
              </a:rPr>
              <a:t>335 resensies waar &gt;50% van karakters nie alfabeties is nie.</a:t>
            </a:r>
          </a:p>
          <a:p>
            <a:pPr>
              <a:spcAft>
                <a:spcPts val="11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Speeltyd-uitskieters: </a:t>
            </a:r>
            <a:r>
              <a:rPr sz="1600">
                <a:solidFill>
                  <a:srgbClr val="1F2A36"/>
                </a:solidFill>
                <a:latin typeface="Calibri"/>
              </a:rPr>
              <a:t>maksimum 3 288 515 minute (~6 jaar) — onrealisties vir die venster.</a:t>
            </a:r>
          </a:p>
          <a:p>
            <a:pPr>
              <a:spcAft>
                <a:spcPts val="11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30 verskillende tale: </a:t>
            </a:r>
            <a:r>
              <a:rPr sz="1600">
                <a:solidFill>
                  <a:srgbClr val="1F2A36"/>
                </a:solidFill>
                <a:latin typeface="Calibri"/>
              </a:rPr>
              <a:t>gemengde taaldata; NLP-filter later na Engels.</a:t>
            </a:r>
          </a:p>
          <a:p>
            <a:pPr>
              <a:spcAft>
                <a:spcPts val="1100"/>
              </a:spcAft>
            </a:pPr>
            <a:r>
              <a:rPr b="1" sz="1600">
                <a:solidFill>
                  <a:srgbClr val="1B2838"/>
                </a:solidFill>
                <a:latin typeface="Calibri"/>
              </a:rPr>
              <a:t>▪ Tydstempels: </a:t>
            </a:r>
            <a:r>
              <a:rPr sz="1600">
                <a:solidFill>
                  <a:srgbClr val="1F2A36"/>
                </a:solidFill>
                <a:latin typeface="Calibri"/>
              </a:rPr>
              <a:t>Unix-tydstempels — nie mensleesbaar nie; afgeleide datums nodig.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280160"/>
            <a:ext cx="4937760" cy="4480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46304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2838"/>
                </a:solidFill>
                <a:latin typeface="Calibri"/>
              </a:rPr>
              <a:t>Voorbeelde uit die rou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2011680"/>
            <a:ext cx="4480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12140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838"/>
                </a:solidFill>
                <a:latin typeface="Calibri"/>
              </a:rPr>
              <a:t>“gg”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35915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E7A89"/>
                </a:solidFill>
                <a:latin typeface="Calibri"/>
              </a:rPr>
              <a:t>2 karakters — te kort vir enige insig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788920"/>
            <a:ext cx="4480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89864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838"/>
                </a:solidFill>
                <a:latin typeface="Calibri"/>
              </a:rPr>
              <a:t>“🔥🔥🔥🔥🔥”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31363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E7A89"/>
                </a:solidFill>
                <a:latin typeface="Calibri"/>
              </a:rPr>
              <a:t>100% emoji — geen betekenis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3566160"/>
            <a:ext cx="4480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67588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838"/>
                </a:solidFill>
                <a:latin typeface="Calibri"/>
              </a:rPr>
              <a:t>“asdkjh123!!!”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91363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E7A89"/>
                </a:solidFill>
                <a:latin typeface="Calibri"/>
              </a:rPr>
              <a:t>onsamehangende karakters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4343400"/>
            <a:ext cx="4480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445312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838"/>
                </a:solidFill>
                <a:latin typeface="Calibri"/>
              </a:rPr>
              <a:t>“Great game!!”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6908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E7A89"/>
                </a:solidFill>
                <a:latin typeface="Calibri"/>
              </a:rPr>
              <a:t>geldig — bly behou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Skoonmaak &amp; Voorbereiding (src/clean.py)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2286000" cy="566928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8524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Deduplikasie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234440"/>
            <a:ext cx="429768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28524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F2A36"/>
                </a:solidFill>
                <a:latin typeface="Calibri"/>
              </a:rPr>
              <a:t>Duplikaat review_id verwyder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234440"/>
            <a:ext cx="4343400" cy="566928"/>
          </a:xfrm>
          <a:prstGeom prst="rect">
            <a:avLst/>
          </a:prstGeom>
          <a:solidFill>
            <a:srgbClr val="E7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28524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5A10"/>
                </a:solidFill>
                <a:latin typeface="Calibri"/>
              </a:rPr>
              <a:t>Waarom: Sekerheid teen dubbeltelling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856232"/>
            <a:ext cx="2286000" cy="566928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07032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Leë teks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1856232"/>
            <a:ext cx="429768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1907032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F2A36"/>
                </a:solidFill>
                <a:latin typeface="Calibri"/>
              </a:rPr>
              <a:t>NaN/leë review_text weggegooi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856232"/>
            <a:ext cx="4343400" cy="566928"/>
          </a:xfrm>
          <a:prstGeom prst="rect">
            <a:avLst/>
          </a:prstGeom>
          <a:solidFill>
            <a:srgbClr val="E7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907032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5A10"/>
                </a:solidFill>
                <a:latin typeface="Calibri"/>
              </a:rPr>
              <a:t>Waarom: Geen teks = geen inligting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478024"/>
            <a:ext cx="2286000" cy="566928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528824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Minimum lengte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478024"/>
            <a:ext cx="429768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528824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F2A36"/>
                </a:solidFill>
                <a:latin typeface="Calibri"/>
              </a:rPr>
              <a:t>&lt; 10 karakters verwyder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478024"/>
            <a:ext cx="4343400" cy="566928"/>
          </a:xfrm>
          <a:prstGeom prst="rect">
            <a:avLst/>
          </a:prstGeom>
          <a:solidFill>
            <a:srgbClr val="E7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2528824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5A10"/>
                </a:solidFill>
                <a:latin typeface="Calibri"/>
              </a:rPr>
              <a:t>Waarom: Spam soos “gg” weg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099816"/>
            <a:ext cx="2286000" cy="566928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150616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Karakter-ratio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099816"/>
            <a:ext cx="429768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3150616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F2A36"/>
                </a:solidFill>
                <a:latin typeface="Calibri"/>
              </a:rPr>
              <a:t>&gt;50% alfabeties/spasies vereis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099816"/>
            <a:ext cx="4343400" cy="566928"/>
          </a:xfrm>
          <a:prstGeom prst="rect">
            <a:avLst/>
          </a:prstGeom>
          <a:solidFill>
            <a:srgbClr val="E7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3150616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5A10"/>
                </a:solidFill>
                <a:latin typeface="Calibri"/>
              </a:rPr>
              <a:t>Waarom: Emoji- en nonsens-spam weg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721608"/>
            <a:ext cx="2286000" cy="566928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772408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Tydstempel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721608"/>
            <a:ext cx="429768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3772408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F2A36"/>
                </a:solidFill>
                <a:latin typeface="Calibri"/>
              </a:rPr>
              <a:t>Numeries → review_date, -year, -month, -dag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721608"/>
            <a:ext cx="4343400" cy="566928"/>
          </a:xfrm>
          <a:prstGeom prst="rect">
            <a:avLst/>
          </a:prstGeom>
          <a:solidFill>
            <a:srgbClr val="E7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3772408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5A10"/>
                </a:solidFill>
                <a:latin typeface="Calibri"/>
              </a:rPr>
              <a:t>Waarom: Datums vir konteks en Fase 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343400"/>
            <a:ext cx="2286000" cy="566928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39420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Speeltyd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343400"/>
            <a:ext cx="429768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63240" y="439420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F2A36"/>
                </a:solidFill>
                <a:latin typeface="Calibri"/>
              </a:rPr>
              <a:t>Uitskieters afgekap by 99ste persentiel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4343400"/>
            <a:ext cx="4343400" cy="566928"/>
          </a:xfrm>
          <a:prstGeom prst="rect">
            <a:avLst/>
          </a:prstGeom>
          <a:solidFill>
            <a:srgbClr val="E7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43942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5A10"/>
                </a:solidFill>
                <a:latin typeface="Calibri"/>
              </a:rPr>
              <a:t>Waarom: Behou data, neutraliseer ekstreme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965192"/>
            <a:ext cx="2286000" cy="566928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015992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Tipes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4965192"/>
            <a:ext cx="429768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5015992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F2A36"/>
                </a:solidFill>
                <a:latin typeface="Calibri"/>
              </a:rPr>
              <a:t>voted_up, steam_purchase, early_access → bool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4965192"/>
            <a:ext cx="4343400" cy="566928"/>
          </a:xfrm>
          <a:prstGeom prst="rect">
            <a:avLst/>
          </a:prstGeom>
          <a:solidFill>
            <a:srgbClr val="E7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20" y="5015992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5A10"/>
                </a:solidFill>
                <a:latin typeface="Calibri"/>
              </a:rPr>
              <a:t>Waarom: Korrekte datatipes vir analise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586984"/>
            <a:ext cx="2286000" cy="566928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637784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Kenmerke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5586984"/>
            <a:ext cx="429768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63240" y="5637784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F2A36"/>
                </a:solidFill>
                <a:latin typeface="Calibri"/>
              </a:rPr>
              <a:t>word_count, review_length, genre-one-hot (9)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5586984"/>
            <a:ext cx="4343400" cy="566928"/>
          </a:xfrm>
          <a:prstGeom prst="rect">
            <a:avLst/>
          </a:prstGeom>
          <a:solidFill>
            <a:srgbClr val="E7F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60920" y="5637784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3A5A10"/>
                </a:solidFill>
                <a:latin typeface="Calibri"/>
              </a:rPr>
              <a:t>Waarom: Genre-vlak analise moontlik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Skoonmaak-pyplyn in Getalle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09</a:t>
            </a:r>
          </a:p>
        </p:txBody>
      </p:sp>
      <p:pic>
        <p:nvPicPr>
          <p:cNvPr id="6" name="Picture 5" descr="fig3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949440" cy="3706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4630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161 630 → 159 768: </a:t>
            </a:r>
            <a:r>
              <a:rPr sz="1500">
                <a:solidFill>
                  <a:srgbClr val="1F2A36"/>
                </a:solidFill>
                <a:latin typeface="Calibri"/>
              </a:rPr>
              <a:t>1 862 resensies verwyder (1.2%).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Nie verwyder nie: </a:t>
            </a:r>
            <a:r>
              <a:rPr sz="1500">
                <a:solidFill>
                  <a:srgbClr val="1F2A36"/>
                </a:solidFill>
                <a:latin typeface="Calibri"/>
              </a:rPr>
              <a:t>uitskieters word afgekap, nie geskrap nie.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Herhaalbaar: </a:t>
            </a:r>
            <a:r>
              <a:rPr sz="1500">
                <a:solidFill>
                  <a:srgbClr val="1F2A36"/>
                </a:solidFill>
                <a:latin typeface="Calibri"/>
              </a:rPr>
              <a:t>process_reviews() kan die hele pyplyn weer hardloop.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Bewaring: </a:t>
            </a:r>
            <a:r>
              <a:rPr sz="1500">
                <a:solidFill>
                  <a:srgbClr val="1F2A36"/>
                </a:solidFill>
                <a:latin typeface="Calibri"/>
              </a:rPr>
              <a:t>VADER-kolomme van vorige lopies word bewaar — geen werk verlore nie.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Finale Skoon Datastel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3017520" cy="1097280"/>
          </a:xfrm>
          <a:prstGeom prst="rect">
            <a:avLst/>
          </a:prstGeom>
          <a:solidFill>
            <a:srgbClr val="A4D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B2838"/>
                </a:solidFill>
                <a:latin typeface="Calibri"/>
              </a:rPr>
              <a:t>159 768
resensies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234440"/>
            <a:ext cx="3017520" cy="109728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42
kolomme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234440"/>
            <a:ext cx="4434840" cy="1097280"/>
          </a:xfrm>
          <a:prstGeom prst="rect">
            <a:avLst/>
          </a:prstGeom>
          <a:solidFill>
            <a:srgbClr val="2A4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371600"/>
            <a:ext cx="4023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9 genre-aanwysers +
5 VADER-kolomme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Identifikasie: </a:t>
            </a:r>
            <a:r>
              <a:rPr sz="1500">
                <a:solidFill>
                  <a:srgbClr val="1F2A36"/>
                </a:solidFill>
                <a:latin typeface="Calibri"/>
              </a:rPr>
              <a:t>app_id, game_name, review_id, language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Gedrag: </a:t>
            </a:r>
            <a:r>
              <a:rPr sz="1500">
                <a:solidFill>
                  <a:srgbClr val="1F2A36"/>
                </a:solidFill>
                <a:latin typeface="Calibri"/>
              </a:rPr>
              <a:t>playtime_forever (gekap), num_games_owned, votes, aankoop-konteks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Teks: </a:t>
            </a:r>
            <a:r>
              <a:rPr sz="1500">
                <a:solidFill>
                  <a:srgbClr val="1F2A36"/>
                </a:solidFill>
                <a:latin typeface="Calibri"/>
              </a:rPr>
              <a:t>review_text, review_text_clean, review_length, word_count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Datums: </a:t>
            </a:r>
            <a:r>
              <a:rPr sz="1500">
                <a:solidFill>
                  <a:srgbClr val="1F2A36"/>
                </a:solidFill>
                <a:latin typeface="Calibri"/>
              </a:rPr>
              <a:t>review_date, review_year, review_month, review_day_of_week</a:t>
            </a:r>
          </a:p>
          <a:p>
            <a:pPr>
              <a:spcAft>
                <a:spcPts val="9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Teiken: </a:t>
            </a:r>
            <a:r>
              <a:rPr sz="1500">
                <a:solidFill>
                  <a:srgbClr val="1F2A36"/>
                </a:solidFill>
                <a:latin typeface="Calibri"/>
              </a:rPr>
              <a:t>voted_up (positief/negatief)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560320"/>
            <a:ext cx="4892040" cy="3291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69748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838"/>
                </a:solidFill>
                <a:latin typeface="Calibri"/>
              </a:rPr>
              <a:t>Datatipe-afdwinging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20040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F2A36"/>
                </a:solidFill>
                <a:latin typeface="Calibri"/>
              </a:rPr>
              <a:t>▪ voted_up, steam_purchase → bool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F2A36"/>
                </a:solidFill>
                <a:latin typeface="Calibri"/>
              </a:rPr>
              <a:t>▪ playtime → float (NaN → 0)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F2A36"/>
                </a:solidFill>
                <a:latin typeface="Calibri"/>
              </a:rPr>
              <a:t>▪ tydstempel → numeries, geldig vereis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F2A36"/>
                </a:solidFill>
                <a:latin typeface="Calibri"/>
              </a:rPr>
              <a:t>▪ genre_* → int 0/1 (one-hot)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F2A36"/>
                </a:solidFill>
                <a:latin typeface="Calibri"/>
              </a:rPr>
              <a:t>▪ geen ontbrekende kernwaardes oor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Resultaat: Resensie-volume per Genre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fig4_ge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949440" cy="3706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4630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Genoeg volume per genre </a:t>
            </a:r>
            <a:r>
              <a:rPr sz="1500">
                <a:solidFill>
                  <a:srgbClr val="1F2A36"/>
                </a:solidFill>
                <a:latin typeface="Calibri"/>
              </a:rPr>
              <a:t>vir statistiese toetse in Fase 3.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Genre-oorgang: </a:t>
            </a:r>
            <a:r>
              <a:rPr sz="1500">
                <a:solidFill>
                  <a:srgbClr val="1F2A36"/>
                </a:solidFill>
                <a:latin typeface="Calibri"/>
              </a:rPr>
              <a:t>baie speletjies behoort aan meerdere genres (bv. Elden Ring: Action + RPG).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B2838"/>
                </a:solidFill>
                <a:latin typeface="Calibri"/>
              </a:rPr>
              <a:t>▪ One-hot etikette </a:t>
            </a:r>
            <a:r>
              <a:rPr sz="1500">
                <a:solidFill>
                  <a:srgbClr val="1F2A36"/>
                </a:solidFill>
                <a:latin typeface="Calibri"/>
              </a:rPr>
              <a:t>laat per-genre vergelyking sonder dubbeltelling toe.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66C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Plan vir Fase 3 (EDA) &amp;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66C0F4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394960" cy="502920"/>
          </a:xfrm>
          <a:prstGeom prst="rect">
            <a:avLst/>
          </a:prstGeom>
          <a:solidFill>
            <a:srgbClr val="1B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441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Fase 3: Verkennende Data Analise (beplan)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Basiese statistieke: totale, positief-%, gemiddelde speeltyd per genre.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Formele toetse: t-toetse &amp; ANOVA vir genre-verskille (resensielengte, sentiment).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Patrone &amp; tendense: volume, sentiment-verspreiding, uitskieters.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F2A36"/>
                </a:solidFill>
                <a:latin typeface="Calibri"/>
              </a:rPr>
              <a:t>▪ Aanvanklike plan vir die diepgaande analise (Fase 4).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257800" cy="42062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630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B2838"/>
                </a:solidFill>
                <a:latin typeface="Calibri"/>
              </a:rPr>
              <a:t>Samevatting van Fase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400">
                <a:solidFill>
                  <a:srgbClr val="1B2838"/>
                </a:solidFill>
                <a:latin typeface="Calibri"/>
              </a:rPr>
              <a:t>▪ 161 630 rou → 159 768 skoon resensies</a:t>
            </a:r>
            <a:r>
              <a:rPr sz="1400">
                <a:solidFill>
                  <a:srgbClr val="1F2A36"/>
                </a:solidFill>
                <a:latin typeface="Calibri"/>
              </a:rPr>
              <a:t> (1.2% verwyder)</a:t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B2838"/>
                </a:solidFill>
                <a:latin typeface="Calibri"/>
              </a:rPr>
              <a:t>▪ 33 speletjies · 9 genres · 30 tale</a:t>
            </a:r>
            <a:r>
              <a:rPr sz="1400">
                <a:solidFill>
                  <a:srgbClr val="1F2A36"/>
                </a:solidFill>
                <a:latin typeface="Calibri"/>
              </a:rPr>
              <a:t/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B2838"/>
                </a:solidFill>
                <a:latin typeface="Calibri"/>
              </a:rPr>
              <a:t>▪ Steam API-webskraping, volledig gedokumenteer</a:t>
            </a:r>
            <a:r>
              <a:rPr sz="1400">
                <a:solidFill>
                  <a:srgbClr val="1F2A36"/>
                </a:solidFill>
                <a:latin typeface="Calibri"/>
              </a:rPr>
              <a:t/>
            </a:r>
          </a:p>
          <a:p>
            <a:pPr>
              <a:spcAft>
                <a:spcPts val="900"/>
              </a:spcAft>
            </a:pPr>
            <a:r>
              <a:rPr b="1" sz="1400">
                <a:solidFill>
                  <a:srgbClr val="1B2838"/>
                </a:solidFill>
                <a:latin typeface="Calibri"/>
              </a:rPr>
              <a:t>▪ Datastel gereed vir Fase 3</a:t>
            </a:r>
            <a:r>
              <a:rPr sz="1400">
                <a:solidFill>
                  <a:srgbClr val="1F2A36"/>
                </a:solidFill>
                <a:latin typeface="Calibri"/>
              </a:rPr>
              <a:t> — gestruktureer, geen ontbrekende kernwaardes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806440"/>
            <a:ext cx="10927080" cy="548640"/>
          </a:xfrm>
          <a:prstGeom prst="rect">
            <a:avLst/>
          </a:prstGeom>
          <a:solidFill>
            <a:srgbClr val="A4D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87044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838"/>
                </a:solidFill>
                <a:latin typeface="Calibri"/>
              </a:rPr>
              <a:t>Dankie! Enige vrae?  ·  Albei groeplede het bygedra tot insameling, skoonmaak en aanbieding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